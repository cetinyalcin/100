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DS.1.1</a:t>
            </a:r>
          </a:p>
          <a:p>
            <a:pPr>
              <a:spcBef>
                <a:spcPts val="1500"/>
              </a:spcBef>
              <a:defRPr sz="3000" b="1">
                <a:solidFill>
                  <a:srgbClr val="FFFFFF"/>
                </a:solidFill>
              </a:defRPr>
            </a:pPr>
            <a:r>
              <a:t>DİJİTAL</a:t>
            </a:r>
            <a:br/>
            <a:r>
              <a:t>SANATLARA</a:t>
            </a:r>
            <a:br/>
            <a:r>
              <a:t>GİRİŞ</a:t>
            </a:r>
          </a:p>
          <a:p>
            <a:pPr>
              <a:spcBef>
                <a:spcPts val="2000"/>
              </a:spcBef>
              <a:defRPr sz="1250">
                <a:solidFill>
                  <a:srgbClr val="DEE8FA"/>
                </a:solidFill>
              </a:defRPr>
            </a:pPr>
            <a:r>
              <a:t>6. Sınıf</a:t>
            </a:r>
            <a:br/>
            <a:r>
              <a:t>DS.1.1.1 • Dijital sanatı tanımlar.</a:t>
            </a:r>
            <a:br/>
            <a:r>
              <a:t>DS.1.1.2 • Dijital sanatın farklı dalları olduğunu fark eder.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9144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943A6"/>
                </a:solidFill>
                <a:latin typeface="Aptos Display"/>
              </a:defRPr>
            </a:pPr>
            <a:r>
              <a:t>🎨  DİJİTAL RESİM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9144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✏️  İLLÜSTRASYON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060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C9FB1"/>
                </a:solidFill>
                <a:latin typeface="Aptos Display"/>
              </a:defRPr>
            </a:pPr>
            <a:r>
              <a:t>🎬  ANİMASYON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6060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E08230"/>
                </a:solidFill>
                <a:latin typeface="Aptos Display"/>
              </a:defRPr>
            </a:pPr>
            <a:r>
              <a:t>🧊  3D MODELLEME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29768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58B60"/>
                </a:solidFill>
                <a:latin typeface="Aptos Display"/>
              </a:defRPr>
            </a:pPr>
            <a:r>
              <a:t>🗿  DİJİTAL HEYKEL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29768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C3434E"/>
                </a:solidFill>
                <a:latin typeface="Aptos Display"/>
              </a:defRPr>
            </a:pPr>
            <a:r>
              <a:t>📷  FOTOĞRAF / VİDEO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5897880"/>
            <a:ext cx="585216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Soru: Dijital ortamda yapılan her görsel sanat mıdır?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Dersin hedefleri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Bugün dijital sanatın ne olduğunu ve hangi alanlara ayrıldığını keşfedeceğiz.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388620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17904"/>
            <a:ext cx="3081528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943A6"/>
                </a:solidFill>
                <a:latin typeface="Aptos Display"/>
              </a:defRPr>
            </a:pPr>
            <a:r>
              <a:t>🎯  1 • TANIMLA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Dijital sanatın ne olduğunu kendi cümlelerinle açıklayabil.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“Dijital” ile “sanat” kavramlarının nasıl birleştiğini fark edebil.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8862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17904"/>
            <a:ext cx="3081528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🧩  2 • DALLARI TANIT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Dijital resim, illüstrasyon, animasyon, 3D modelleme, dijital heykel, video sanatı ve dijital fotoğrafçılığı ayırt edebil.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73152" cy="388620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17904"/>
            <a:ext cx="3081528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B60"/>
                </a:solidFill>
                <a:latin typeface="Aptos Display"/>
              </a:defRPr>
            </a:pPr>
            <a:r>
              <a:t>💻  3 • ARAÇLARI KEŞFET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Farklı dijital sanat alanlarında kullanılan uygulama, yazılım ve platformları tanıyabil.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623560"/>
            <a:ext cx="7726679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Ana fikir: Teknoloji bir araçtır; sanat ise fikir, ifade ve üretim biçimidir.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1. Isınma: Sanat nerede yapılabilir?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Öğrencilerden örnekleri “geleneksel / dijital / ikisi de” olarak sınıflandırmaları istenir.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150876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230"/>
                </a:solidFill>
                <a:latin typeface="Aptos Display"/>
              </a:defRPr>
            </a:pPr>
            <a:r>
              <a:t>🖌️  Tuval üzerine resim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Geleneksel araç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5087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1790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943A6"/>
                </a:solidFill>
                <a:latin typeface="Aptos Display"/>
              </a:defRPr>
            </a:pPr>
            <a:r>
              <a:t>📱  Tablet ile çizim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Dijital araç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73152" cy="15087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1790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770BE"/>
                </a:solidFill>
                <a:latin typeface="Aptos Display"/>
              </a:defRPr>
            </a:pPr>
            <a:r>
              <a:t>📷  Dijital fotoğraf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Dijital üretim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150876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3814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9FB1"/>
                </a:solidFill>
                <a:latin typeface="Aptos Display"/>
              </a:defRPr>
            </a:pPr>
            <a:r>
              <a:t>🧊  Bilgisayarda 3D karakter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Dijital üretim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337560"/>
            <a:ext cx="73152" cy="150876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3814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3434E"/>
                </a:solidFill>
                <a:latin typeface="Aptos Display"/>
              </a:defRPr>
            </a:pPr>
            <a:r>
              <a:t>🎬  Animasyon filmi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Dijital üretim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73152" cy="150876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438144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58B60"/>
                </a:solidFill>
                <a:latin typeface="Aptos Display"/>
              </a:defRPr>
            </a:pPr>
            <a:r>
              <a:t>🗿  3D dijital heykel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Dijital üretim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5577840"/>
            <a:ext cx="7955279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Tartışma: Dijital araç kullanmak, sanat eserini otomatik olarak “sanat” yapar mı?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2. Dijital sanat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Tanımı parçalara ayırarak anlayalım.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5087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72184"/>
            <a:ext cx="1062532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943A6"/>
                </a:solidFill>
                <a:latin typeface="Aptos Display"/>
              </a:defRPr>
            </a:pPr>
            <a:r>
              <a:t>🎨  DİJİTAL SANAT</a:t>
            </a:r>
          </a:p>
          <a:p>
            <a:pPr>
              <a:spcAft>
                <a:spcPts val="300"/>
              </a:spcAft>
              <a:defRPr sz="1400">
                <a:solidFill>
                  <a:srgbClr val="272C39"/>
                </a:solidFill>
                <a:latin typeface="Aptos"/>
              </a:defRPr>
            </a:pPr>
            <a:r>
              <a:t>Bilgisayar, tablet, akıllı telefon, kamera, grafik tablet veya benzeri dijital teknolojiler kullanılarak oluşturulan, düzenlenen ya da sunulan sanat eserlerini ve üretim süreçlerini ifade eder.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4612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73152" cy="1874519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46703"/>
            <a:ext cx="21671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770BE"/>
                </a:solidFill>
                <a:latin typeface="Aptos Display"/>
              </a:defRPr>
            </a:pPr>
            <a:r>
              <a:t>💻  DİJİTAL ARAÇ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Tablet, bilgisayar, kamera, grafik tablet…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4612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73152" cy="1874519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346703"/>
            <a:ext cx="21671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230"/>
                </a:solidFill>
                <a:latin typeface="Aptos Display"/>
              </a:defRPr>
            </a:pPr>
            <a:r>
              <a:t>💡  SANATSAL FİKİR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Duygu, düşünce, hikâye, estetik veya mesaj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4612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246120"/>
            <a:ext cx="73152" cy="1874519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346703"/>
            <a:ext cx="21671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43A6"/>
                </a:solidFill>
                <a:latin typeface="Aptos Display"/>
              </a:defRPr>
            </a:pPr>
            <a:r>
              <a:t>🛠️  ÜRETİM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Çizme, modelleme, fotoğraflama, kurgulama…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24612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3246120"/>
            <a:ext cx="73152" cy="1874519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3346703"/>
            <a:ext cx="21671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8B60"/>
                </a:solidFill>
                <a:latin typeface="Aptos Display"/>
              </a:defRPr>
            </a:pPr>
            <a:r>
              <a:t>✨  ESER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Ortaya çıkan görsel, hareketli, üç boyutlu veya işitsel ürün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5623560"/>
            <a:ext cx="7498079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Dijital sanat = Sanatsal ifade + dijital teknoloji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3. Teknoloji araçtır, sanat ise anlatımdır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Aynı araçla farklı sanatçılar bambaşka eserler oluşturabilir.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06908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4956048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08230"/>
                </a:solidFill>
                <a:latin typeface="Aptos Display"/>
              </a:defRPr>
            </a:pPr>
            <a:r>
              <a:t>🖌️  GELENEKSEL ARAÇLAR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Fırça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Kalem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Boya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Tuval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Heykel malzemeleri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Sanatçı bu araçlarla düşüncesini ve duygusunu ifade eder.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06908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17904"/>
            <a:ext cx="4956048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43A6"/>
                </a:solidFill>
                <a:latin typeface="Aptos Display"/>
              </a:defRPr>
            </a:pPr>
            <a:r>
              <a:t>🖥️  DİJİTAL ARAÇLAR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Grafik tablet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Tablet / telefon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Kamera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3D yazılımı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• Video kurgu yazılımı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Sanatçı yine fikir ve estetik kararlarıyla üretir.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5760720"/>
            <a:ext cx="7498079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Farklı araçlar → farklı üretim olanakları; sanatın temelinde yine insanın fikri vardır.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4. Dijital sanatın başlıca dalları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Bu ünitede tanıyacağımız temel alanlar.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73152" cy="169164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43A6"/>
                </a:solidFill>
                <a:latin typeface="Aptos Display"/>
              </a:defRPr>
            </a:pPr>
            <a:r>
              <a:t>🎨  DİJİTAL RESİM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Piksel veya fırça tabanlı dijital çizim ve boyama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73152" cy="169164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770BE"/>
                </a:solidFill>
                <a:latin typeface="Aptos Display"/>
              </a:defRPr>
            </a:pPr>
            <a:r>
              <a:t>✏️  İLLÜSTRASYON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Bir fikri, hikâyeyi veya metni görsel olarak anlatma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169164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434E"/>
                </a:solidFill>
                <a:latin typeface="Aptos Display"/>
              </a:defRPr>
            </a:pPr>
            <a:r>
              <a:t>🎬  ANİMASYON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Çizim/görselleri hareket ve zaman içinde canlandırma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325880"/>
            <a:ext cx="73152" cy="169164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9FB1"/>
                </a:solidFill>
                <a:latin typeface="Aptos Display"/>
              </a:defRPr>
            </a:pPr>
            <a:r>
              <a:t>🧊  3D MODELLEME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Üç boyutlu nesne, karakter ve ortam oluşturma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73152" cy="169164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8B60"/>
                </a:solidFill>
                <a:latin typeface="Aptos Display"/>
              </a:defRPr>
            </a:pPr>
            <a:r>
              <a:t>🗿  DİJİTAL HEYKEL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3D modeli kil gibi şekillendirerek oluşturma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429000"/>
            <a:ext cx="73152" cy="169164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8230"/>
                </a:solidFill>
                <a:latin typeface="Aptos Display"/>
              </a:defRPr>
            </a:pPr>
            <a:r>
              <a:t>🎥  VİDEO SANATI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Görüntü, ses, zaman ve kurgu ile sanatsal anlatım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29000"/>
            <a:ext cx="73152" cy="16916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048"/>
                </a:solidFill>
                <a:latin typeface="Aptos Display"/>
              </a:defRPr>
            </a:pPr>
            <a:r>
              <a:t>📷  DİJİTAL FOTOĞRAF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Dijital kamera ile görüntü oluşturma ve düzenleme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3429000"/>
            <a:ext cx="73152" cy="1691640"/>
          </a:xfrm>
          <a:prstGeom prst="rect">
            <a:avLst/>
          </a:prstGeom>
          <a:solidFill>
            <a:srgbClr val="C4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9930"/>
                </a:solidFill>
                <a:latin typeface="Aptos Display"/>
              </a:defRPr>
            </a:pPr>
            <a:r>
              <a:t>🖱️  ETKİLEŞİMLİ / YENİ MEDYA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Kullanıcı etkileşimi, kod, ses, görüntü ve hareketi birleştirme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760720"/>
            <a:ext cx="813816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Dallar birbirinden tamamen kopuk değildir; bir eser birden fazla alanı birleştirebilir.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5. Dijital resim / dijital boyama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Geleneksel resmin birçok tekniği dijital ortamda yeniden yorumlanabilir.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519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308152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943A6"/>
                </a:solidFill>
                <a:latin typeface="Aptos Display"/>
              </a:defRPr>
            </a:pPr>
            <a:r>
              <a:t>🎨  NEDİR?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Dijital fırçalar, katmanlar, renk araçları ve efektlerle bilgisayar/tablet üzerinde resim oluşturma.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Örnekler: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Portre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Manzara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Karakter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Konsept çizim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2519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8152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🖥️  ARAÇLAR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Krita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Adobe Photoshop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Adobe Fresco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Procreate (iPad)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Not: Uygulamaların cihaz ve lisans özellikleri farklı olabilir.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73152" cy="425196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72184"/>
            <a:ext cx="308152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B60"/>
                </a:solidFill>
                <a:latin typeface="Aptos Display"/>
              </a:defRPr>
            </a:pPr>
            <a:r>
              <a:t>🧩  TEMEL KAVRAMLAR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Katman • fırça • silgi • renk paleti • opaklık • çözünürlük • piksel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Katmanlar, farklı parçaları birbirinden bağımsız düzenlemeyi kolaylaştırır.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5806440"/>
            <a:ext cx="7498079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Etkinlik: Bir karakteri 3 katmanla düşün — arka plan + karakter + ayrıntılar.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6. Dijital illüstrasyon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İllüstrasyonun amacı çoğu zaman bir düşünceyi, hikâyeyi veya bilgiyi görselleştirmektir.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1605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4910328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0BE"/>
                </a:solidFill>
                <a:latin typeface="Aptos Display"/>
              </a:defRPr>
            </a:pPr>
            <a:r>
              <a:t>✏️  NEREDE KARŞIMIZA ÇIKAR?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📚 Kitap ve dergi görselleri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🎮 Oyun karakterleri ve ortamları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📱 Uygulama ve web arayüzleri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📣 Afiş ve sosyal medya görselleri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🧑‍🏫 Eğitim materyalleri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41605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17904"/>
            <a:ext cx="4910328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43A6"/>
                </a:solidFill>
                <a:latin typeface="Aptos Display"/>
              </a:defRPr>
            </a:pPr>
            <a:r>
              <a:t>🖍️  KULLANILABİLECEK ARAÇLAR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Krita • Adobe Illustrator • Adobe Fresco • Inkscape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Vektör çizim ile piksel/raster çizim arasında temel farklar bulunur: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Vektör: şekiller ve matematiksel yollar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Raster: piksellerden oluşan görüntü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806440"/>
            <a:ext cx="7589520" cy="393192"/>
          </a:xfrm>
          <a:prstGeom prst="round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Mini soru: Bir kitap kapağındaki çizim hangi amaçla yapılmış olabilir?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7. Dijital animasyon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Hareketsiz görüntülerin zaman içinde düzenlenmesiyle hareket ve anlatım oluşturulur.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5196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3434E"/>
                </a:solidFill>
                <a:latin typeface="Aptos Display"/>
              </a:defRPr>
            </a:pPr>
            <a:r>
              <a:t>🎬  TEMEL FİKİR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Bir nesnenin farklı anlarda farklı konumlarda gösterilmesi, hareket algısı oluşturabilir.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Kare → Kare → Kare → Hareket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2519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943A6"/>
                </a:solidFill>
                <a:latin typeface="Aptos Display"/>
              </a:defRPr>
            </a:pPr>
            <a:r>
              <a:t>⏱️  KAVRAMLAR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Kare (frame) • zaman çizelgesi (timeline) • anahtar kare (keyframe) • katman • sahne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2D animasyon ve 3D animasyon farklı üretim süreçlerine sahip olabilir.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73152" cy="42519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🧩  ARAÇ ÖRNEKLERİ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OpenToonz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Blender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Adobe Animate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Krita (animasyon özellikleri)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Araç seçimi, yapılacak animasyon türüne göre değişir.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5806440"/>
            <a:ext cx="731520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Etkinlik: Top zıplatma — 5 karede topun konumunu değiştir.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8. 3D modelleme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Bilgisayar ortamında üç boyutlu nesneler ve dünyalar oluşturma.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0624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9FB1"/>
                </a:solidFill>
                <a:latin typeface="Aptos Display"/>
              </a:defRPr>
            </a:pPr>
            <a:r>
              <a:t>🧊  3 BOYUT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Genişlik (X) • yükseklik (Y) • derinlik (Z)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2D çizimde düzlem; 3D modellemede hacim ve uzay kavramı önem kazanır.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20624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🌐  NEREDE KULLANILIR?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🎮 Oyunlar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🎬 Film ve animasyon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🏠 Mimari görselleştirme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🧪 Bilimsel görselleştirme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🖨️ 3D baskı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🎨 Sanatsal çalışmalar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73152" cy="420624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B60"/>
                </a:solidFill>
                <a:latin typeface="Aptos Display"/>
              </a:defRPr>
            </a:pPr>
            <a:r>
              <a:t>💻  ARAÇ ÖRNEKLERİ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Blender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Tinkercad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SketchUp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Autodesk Fusion gibi 3D araçları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6. sınıf için basit şekillerden başlanabilir.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806440"/>
            <a:ext cx="740664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Etkinlik: Küp + silindir + küre kullanarak bir robot tasarla.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9. Dijital heykel (3D sculpting)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Dijital ortamda bir modeli kil yoğurur gibi şekillendirme fikri.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06908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4910328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58B60"/>
                </a:solidFill>
                <a:latin typeface="Aptos Display"/>
              </a:defRPr>
            </a:pPr>
            <a:r>
              <a:t>🗿  NASIL DÜŞÜNELİM?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Geleneksel heykeltıraşın kil veya benzeri bir malzemeyi şekillendirmesine benzer bir mantıkla, dijital model üzerinde: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itme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çekme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düzleştirme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yumuşatma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ayrıntı ekleme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gibi işlemler yapılabilir.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406908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17904"/>
            <a:ext cx="4910328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43A6"/>
                </a:solidFill>
                <a:latin typeface="Aptos Display"/>
              </a:defRPr>
            </a:pPr>
            <a:r>
              <a:t>🧑‍🎨  ARAÇLAR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Blender Sculpt Mode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ZBrush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• Nomad Sculpt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Bu araçlar farklı düzeylerde profesyonel özellikler sunar. Öğrenciler için temel amaç, “dijital ortamda 3D şekillendirme” fikrini anlamaktır.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5760720"/>
            <a:ext cx="777240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Soru: Dijital heykelin fiziksel heykele benzeyen ve farklı olan yönleri neler?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10. Video sanatı ve dijital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Görüntü + ses + zaman + kurgu, sanatsal bir anlatım oluşturabilir.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0624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08230"/>
                </a:solidFill>
                <a:latin typeface="Aptos Display"/>
              </a:defRPr>
            </a:pPr>
            <a:r>
              <a:t>🎬  BİLEŞENLER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🎥 Görüntü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🎧 Ses / müzik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⏱️ Zaman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✂️ Kurgu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📝 Metin / grafik</a:t>
            </a:r>
          </a:p>
          <a:p>
            <a:pPr>
              <a:spcAft>
                <a:spcPts val="300"/>
              </a:spcAft>
              <a:defRPr sz="1300">
                <a:solidFill>
                  <a:srgbClr val="272C39"/>
                </a:solidFill>
                <a:latin typeface="Aptos"/>
              </a:defRPr>
            </a:pPr>
            <a:r>
              <a:t>✨ Efekt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20624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3434E"/>
                </a:solidFill>
                <a:latin typeface="Aptos Display"/>
              </a:defRPr>
            </a:pPr>
            <a:r>
              <a:t>📽️  ÖRNEK ÜRÜNLER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Kısa film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Video kolajı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Stop-motion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Deneysel video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Dijital hikâye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Sanatsal amaç, sadece “video çekmekten” farklıdır.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73152" cy="420624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72184"/>
            <a:ext cx="303580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🖥️  ARAÇLAR</a:t>
            </a: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  <a:r>
              <a:t>• DaVinci Resolve</a:t>
            </a: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  <a:r>
              <a:t>• Adobe Premiere Pro</a:t>
            </a: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  <a:r>
              <a:t>• CapCut gibi video düzenleme araçları</a:t>
            </a: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  <a:r>
              <a:t>• OpenShot gibi seçenekler</a:t>
            </a: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80">
                <a:solidFill>
                  <a:srgbClr val="272C39"/>
                </a:solidFill>
                <a:latin typeface="Aptos"/>
              </a:defRPr>
            </a:pPr>
            <a:r>
              <a:t>Okul ortamında öğretmen gözetimi ve güvenli kullanım önemlidir.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760720"/>
            <a:ext cx="768096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Etkinlik: 20 saniyelik “okulumuzda bir gün” dijital hikâyesinin planını çıkar.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11. Dijital fotoğrafçılık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Dijital kamera veya telefonla görüntü oluşturma, seçme ve düzenleme.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2519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770BE"/>
                </a:solidFill>
                <a:latin typeface="Aptos Display"/>
              </a:defRPr>
            </a:pPr>
            <a:r>
              <a:t>📷  TEMEL KAVRAMLAR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📷 Kadraj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💡 Işık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🎯 Odak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📐 Kompozisyon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🖼️ Çözünürlük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🗂️ Dosya formatı</a:t>
            </a: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72C39"/>
                </a:solidFill>
                <a:latin typeface="Aptos"/>
              </a:defRPr>
            </a:pPr>
            <a:r>
              <a:t>Fotoğrafı sanat yapan unsurlar arasında bakış açısı, seçim ve anlatım bulunabilir.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2519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943A6"/>
                </a:solidFill>
                <a:latin typeface="Aptos Display"/>
              </a:defRPr>
            </a:pPr>
            <a:r>
              <a:t>✨  DÜZENLEME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Parlaklık • kontrast • kırpma • renk • keskinlik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Amaç her zaman “daha çok efekt” değildir; bazen küçük bir düzenleme anlatımı güçlendirir.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73152" cy="425196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72184"/>
            <a:ext cx="303580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B60"/>
                </a:solidFill>
                <a:latin typeface="Aptos Display"/>
              </a:defRPr>
            </a:pPr>
            <a:r>
              <a:t>🖼️  ARAÇLAR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• Telefon kamera uygulamaları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• GIMP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• Adobe Lightroom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• Adobe Photoshop</a:t>
            </a: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72C39"/>
                </a:solidFill>
                <a:latin typeface="Aptos"/>
              </a:defRPr>
            </a:pPr>
            <a:r>
              <a:t>Kişilerin fotoğraflarını paylaşırken izin ve gizlilik kurallarına dikkat edilir.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5806440"/>
            <a:ext cx="786384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Etkinlik: Aynı nesneyi 3 farklı açıdan çek ve hangisinin daha iyi anlattığını tartış.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12. Piksel (raster) ve vektör: İki farklı dijital görüntü yaklaşımı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Dijital sanat üretirken görüntünün nasıl temsil edildiğini bilmek önemlidir.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2519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72184"/>
            <a:ext cx="495604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0BE"/>
                </a:solidFill>
                <a:latin typeface="Aptos Display"/>
              </a:defRPr>
            </a:pPr>
            <a:r>
              <a:t>▦  RASTER / PİKSEL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Görüntü küçük renkli noktalar olan piksellerden oluşur.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Örnekler: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Fotoğraf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Dijital boyama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Piksel sanat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Araç örnekleri: Photoshop, Krita, GIMP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Çok büyütüldüğünde pikseller görünür hâle gelebilir.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73152" cy="425196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72184"/>
            <a:ext cx="4956048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943A6"/>
                </a:solidFill>
                <a:latin typeface="Aptos Display"/>
              </a:defRPr>
            </a:pPr>
            <a:r>
              <a:t>◇  VEKTÖR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Çizgiler, eğriler ve şekiller matematiksel yollarla tanımlanır.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Örnekler: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Logo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İkon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Tipografik çizimler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• Bazı illüstrasyonlar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Araç örnekleri: Illustrator, Inkscape</a:t>
            </a: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72C39"/>
                </a:solidFill>
                <a:latin typeface="Aptos"/>
              </a:defRPr>
            </a:pPr>
            <a:r>
              <a:t>Boyut değişiminde keskinlik avantajı sağlar.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806440"/>
            <a:ext cx="7223760" cy="393192"/>
          </a:xfrm>
          <a:prstGeom prst="round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Mini soru: Bir fotoğraf mı, logo mu? Hangi yaklaşım daha uygun olabilir?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13. Dijital sanat araçları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Araç seçerken alanı, cihazı, kullanım amacını ve yaşa uygunluğu dikkate 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73152" cy="169164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43A6"/>
                </a:solidFill>
                <a:latin typeface="Aptos Display"/>
              </a:defRPr>
            </a:pPr>
            <a:r>
              <a:t>🎨  ÇİZİM / BOYAMA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Krita • GIMP • Photoshop • Fresco • Procreate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73152" cy="169164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770BE"/>
                </a:solidFill>
                <a:latin typeface="Aptos Display"/>
              </a:defRPr>
            </a:pPr>
            <a:r>
              <a:t>✒️  VEKTÖR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Inkscape • Illustrator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169164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9FB1"/>
                </a:solidFill>
                <a:latin typeface="Aptos Display"/>
              </a:defRPr>
            </a:pPr>
            <a:r>
              <a:t>🧊  3D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Blender • Tinkercad • SketchUp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258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325880"/>
            <a:ext cx="73152" cy="169164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42646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434E"/>
                </a:solidFill>
                <a:latin typeface="Aptos Display"/>
              </a:defRPr>
            </a:pPr>
            <a:r>
              <a:t>🎬  ANİMASYON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OpenToonz • Blender • Adobe Animate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73152" cy="169164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8230"/>
                </a:solidFill>
                <a:latin typeface="Aptos Display"/>
              </a:defRPr>
            </a:pPr>
            <a:r>
              <a:t>🎥  VİDEO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DaVinci Resolve • OpenShot • Premiere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429000"/>
            <a:ext cx="73152" cy="169164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8B60"/>
                </a:solidFill>
                <a:latin typeface="Aptos Display"/>
              </a:defRPr>
            </a:pPr>
            <a:r>
              <a:t>📷  FOTOĞRAF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GIMP • Lightroom • Photoshop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29000"/>
            <a:ext cx="73152" cy="1691640"/>
          </a:xfrm>
          <a:prstGeom prst="rect">
            <a:avLst/>
          </a:prstGeom>
          <a:solidFill>
            <a:srgbClr val="C4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9930"/>
                </a:solidFill>
                <a:latin typeface="Aptos Display"/>
              </a:defRPr>
            </a:pPr>
            <a:r>
              <a:t>🗿  DİJİTAL HEYKEL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Blender Sculpt • ZBrush • Nomad Sculpt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42900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3429000"/>
            <a:ext cx="73152" cy="16916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3529584"/>
            <a:ext cx="2167128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2048"/>
                </a:solidFill>
                <a:latin typeface="Aptos Display"/>
              </a:defRPr>
            </a:pPr>
            <a:r>
              <a:t>🌐  PAYLAŞIM / PORTFÖY</a:t>
            </a:r>
          </a:p>
          <a:p>
            <a:pPr>
              <a:spcAft>
                <a:spcPts val="300"/>
              </a:spcAft>
              <a:defRPr sz="919">
                <a:solidFill>
                  <a:srgbClr val="272C39"/>
                </a:solidFill>
                <a:latin typeface="Aptos"/>
              </a:defRPr>
            </a:pPr>
            <a:r>
              <a:t>ArtStation • Behance • kişisel portföyler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5760720"/>
            <a:ext cx="9052560" cy="393192"/>
          </a:xfrm>
          <a:prstGeom prst="round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Not: Platform ve uygulamaların özellikleri, ücretleri ve yaş koşulları zamanla değişebilir; okulda öğretmen yönlendirmesi esastır.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14. Bir dijital sanat eseri nasıl ortaya çıkar?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Alan değişse de birçok dijital üretimde ortak bir tasarım süreci bulunabilir.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73152" cy="34747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9344"/>
            <a:ext cx="170992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770BE"/>
                </a:solidFill>
                <a:latin typeface="Aptos Display"/>
              </a:defRPr>
            </a:pPr>
            <a:r>
              <a:t>→  1 • FİKİR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Ne anlatacağım?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Tema • hedef • mesaj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0876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73152" cy="3474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09344"/>
            <a:ext cx="170992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43A6"/>
                </a:solidFill>
                <a:latin typeface="Aptos Display"/>
              </a:defRPr>
            </a:pPr>
            <a:r>
              <a:t>→  2 • TASLAK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Nasıl görünecek?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Eskiz • plan • kompozisyon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0876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508760"/>
            <a:ext cx="73152" cy="347472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609344"/>
            <a:ext cx="170992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9FB1"/>
                </a:solidFill>
                <a:latin typeface="Aptos Display"/>
              </a:defRPr>
            </a:pPr>
            <a:r>
              <a:t>→  3 • ÜRETİM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Dijital araçla oluştur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Çizim • fotoğraf • model •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50876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508760"/>
            <a:ext cx="73152" cy="347472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1609344"/>
            <a:ext cx="170992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230"/>
                </a:solidFill>
                <a:latin typeface="Aptos Display"/>
              </a:defRPr>
            </a:pPr>
            <a:r>
              <a:t>→  4 • DÜZENLE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Eksikleri düzelt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Renk • ses • ışık • kurgu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50876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38359" y="1508760"/>
            <a:ext cx="73152" cy="347472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39" y="1609344"/>
            <a:ext cx="170992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8B60"/>
                </a:solidFill>
                <a:latin typeface="Aptos Display"/>
              </a:defRPr>
            </a:pPr>
            <a:r>
              <a:t>→  5 • PAYLAŞ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Eseri sun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Dosya • sergi • sunum • portföy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394960"/>
            <a:ext cx="813816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Sanatçı sadece aracı kullanmaz; karar verir, seçer, dener, düzeltir ve anlatır.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15. Dijital sanat dalları birbirine bağlanabilir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Gerçek projelerde birden fazla alan aynı eserde buluşabilir.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60020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943A6"/>
                </a:solidFill>
                <a:latin typeface="Aptos Display"/>
              </a:defRPr>
            </a:pPr>
            <a:r>
              <a:t>🎮  OYUN KARAKTERİ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İllüstrasyon + 3D modelleme + animasyon + 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160020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7218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3434E"/>
                </a:solidFill>
                <a:latin typeface="Aptos Display"/>
              </a:defRPr>
            </a:pPr>
            <a:r>
              <a:t>🎬  KISA ANİMASYON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Dijital çizim + animasyon + video kurgu + 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73152" cy="16002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7218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770BE"/>
                </a:solidFill>
                <a:latin typeface="Aptos Display"/>
              </a:defRPr>
            </a:pPr>
            <a:r>
              <a:t>📖  DİJİTAL HİKÂYE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Fotoğraf + metin + video + müzik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160020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3814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9FB1"/>
                </a:solidFill>
                <a:latin typeface="Aptos Display"/>
              </a:defRPr>
            </a:pPr>
            <a:r>
              <a:t>🏛️  SANAL SERGİ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3D modelleme + mekân tasarımı + etkileşim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337560"/>
            <a:ext cx="73152" cy="160020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3814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230"/>
                </a:solidFill>
                <a:latin typeface="Aptos Display"/>
              </a:defRPr>
            </a:pPr>
            <a:r>
              <a:t>🖼️  POSTER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İllüstrasyon + tipografi + fotoğraf düzenleme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73152" cy="160020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43814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58B60"/>
                </a:solidFill>
                <a:latin typeface="Aptos Display"/>
              </a:defRPr>
            </a:pPr>
            <a:r>
              <a:t>🖨️  3D BASKI ESERİ</a:t>
            </a:r>
          </a:p>
          <a:p>
            <a:pPr>
              <a:spcAft>
                <a:spcPts val="300"/>
              </a:spcAft>
              <a:defRPr sz="1050">
                <a:solidFill>
                  <a:srgbClr val="272C39"/>
                </a:solidFill>
                <a:latin typeface="Aptos"/>
              </a:defRPr>
            </a:pPr>
            <a:r>
              <a:t>3D modelleme + dijital heykel + fiziksel üretim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5669280"/>
            <a:ext cx="731520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Dijital sanatın sınırları kesin çizgilerle ayrılmaz; alanlar birbirini besler.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16. Dijital sanat üretirken bilinçli 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Sanat üretmek kadar eserin ve insanların haklarına saygı göstermek de önemlidir.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3434E"/>
                </a:solidFill>
                <a:latin typeface="Aptos Display"/>
              </a:defRPr>
            </a:pPr>
            <a:r>
              <a:t>✓  TELİF HAKKI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Başkasının görselini, müziğini veya eserini izinsiz kullanma.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11430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2646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770BE"/>
                </a:solidFill>
                <a:latin typeface="Aptos Display"/>
              </a:defRPr>
            </a:pPr>
            <a:r>
              <a:t>✓  KAYNAK GÖSTERME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Kullandığın uygun kaynakları belirt; lisans koşullarını kontrol 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432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4378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43A6"/>
                </a:solidFill>
                <a:latin typeface="Aptos Display"/>
              </a:defRPr>
            </a:pPr>
            <a:r>
              <a:t>✓  GİZLİLİK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İnsanların fotoğraf ve kişisel bilgilerini izinsiz paylaşma.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743200"/>
            <a:ext cx="73152" cy="114300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84378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230"/>
                </a:solidFill>
                <a:latin typeface="Aptos Display"/>
              </a:defRPr>
            </a:pPr>
            <a:r>
              <a:t>✓  GÜVENLİ PAYLAŞIM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Kişisel adres, telefon, okul bilgisi gibi gereksiz bilgileri yayımlama.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605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160520"/>
            <a:ext cx="73152" cy="114300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6110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8B60"/>
                </a:solidFill>
                <a:latin typeface="Aptos Display"/>
              </a:defRPr>
            </a:pPr>
            <a:r>
              <a:t>✓  DİJİTAL VATANDAŞLIK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Başkalarının eserlerine ve fikirlerine saygılı davran.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605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160520"/>
            <a:ext cx="73152" cy="114300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261104"/>
            <a:ext cx="4864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048"/>
                </a:solidFill>
                <a:latin typeface="Aptos Display"/>
              </a:defRPr>
            </a:pPr>
            <a:r>
              <a:t>✓  YZ İLE ÜRETİM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Bir yapay zekâ aracı kullanıldıysa öğretmenin/kurumun istediği biçimde belirt.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17. Sınıf etkinliği: “Hangi dijital sanat dalı?”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Gruplar her örneği bir sanat alanıyla eşleştirir ve nedenini açıklar.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160020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943A6"/>
                </a:solidFill>
                <a:latin typeface="Aptos Display"/>
              </a:defRPr>
            </a:pPr>
            <a:r>
              <a:t>?  Bir karakteri tablet üzerinde boyamak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Dijital resim / illüstrasyon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60020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2646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3434E"/>
                </a:solidFill>
                <a:latin typeface="Aptos Display"/>
              </a:defRPr>
            </a:pPr>
            <a:r>
              <a:t>?  Bir topun hareketini kare kare göstermek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Animasyon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160020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26464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9FB1"/>
                </a:solidFill>
                <a:latin typeface="Aptos Display"/>
              </a:defRPr>
            </a:pPr>
            <a:r>
              <a:t>?  Bilgisayarda bir robot oluşturmak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3D modelleme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39"/>
            <a:ext cx="73152" cy="1600200"/>
          </a:xfrm>
          <a:prstGeom prst="rect">
            <a:avLst/>
          </a:prstGeom>
          <a:solidFill>
            <a:srgbClr val="35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3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8B60"/>
                </a:solidFill>
                <a:latin typeface="Aptos Display"/>
              </a:defRPr>
            </a:pPr>
            <a:r>
              <a:t>?  Dijital kil gibi bir yüz şekillendirmek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Dijital heykel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291839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291839"/>
            <a:ext cx="73152" cy="1600200"/>
          </a:xfrm>
          <a:prstGeom prst="rect">
            <a:avLst/>
          </a:prstGeom>
          <a:solidFill>
            <a:srgbClr val="E08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392423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230"/>
                </a:solidFill>
                <a:latin typeface="Aptos Display"/>
              </a:defRPr>
            </a:pPr>
            <a:r>
              <a:t>?  Kısa, deneysel bir görüntü çalışması hazırlamak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Video sanatı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291839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291839"/>
            <a:ext cx="73152" cy="16002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392423"/>
            <a:ext cx="30358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770BE"/>
                </a:solidFill>
                <a:latin typeface="Aptos Display"/>
              </a:defRPr>
            </a:pPr>
            <a:r>
              <a:t>?  Bir manzara fotoğrafını çekip düzenlemek</a:t>
            </a:r>
          </a:p>
          <a:p>
            <a:pPr>
              <a:spcAft>
                <a:spcPts val="300"/>
              </a:spcAft>
              <a:defRPr sz="950">
                <a:solidFill>
                  <a:srgbClr val="272C39"/>
                </a:solidFill>
                <a:latin typeface="Aptos"/>
              </a:defRPr>
            </a:pPr>
            <a:r>
              <a:t>Cevap: Dijital fotoğrafçılık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623560"/>
            <a:ext cx="850392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Bonus: Bir örneği iki farklı sanat dalıyla ilişkilendirebilir misin?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18. Hızlı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Önce kendin cevapla; sonra sınıfça gerekçeleri tartış.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1  1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Dijital sanat nedir?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Dijital teknolojiler kullanılarak oluşturulan, düzenlenen veya sunulan sanat eserleri ve üretim süreçleridir.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80744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2  2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Dijital sanatın üç dalını söyle.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Örn. dijital resim, illüstrasyon, animasyon, 3D modelleme, dijital heykel, video sanatı, dijital fotoğraf.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9503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3  3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Animasyonda temel fikir nedir?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Görüntülerin zaman içinde düzenlenmesiyle hareket algısı oluşturmak.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889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788920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889503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4  4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3D modellemede neden “3D” denir?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Genişlik, yükseklik ve derinlik olmak üzere üç boyutlu uzayda nesneler oluşturulur.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7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79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98264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5  5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Raster ve vektör arasındaki temel fark?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Raster piksellerden; vektör matematiksel yollar ve şekillerden oluşur.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29767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97679"/>
            <a:ext cx="73152" cy="123444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398264"/>
            <a:ext cx="491032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048"/>
                </a:solidFill>
                <a:latin typeface="Aptos Display"/>
              </a:defRPr>
            </a:pPr>
            <a:r>
              <a:t>6  6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Dijital sanat üretirken neden telif/gizlilik önemlidir?</a:t>
            </a:r>
          </a:p>
          <a:p>
            <a:pPr>
              <a:spcAft>
                <a:spcPts val="300"/>
              </a:spcAft>
              <a:defRPr sz="880">
                <a:solidFill>
                  <a:srgbClr val="272C39"/>
                </a:solidFill>
                <a:latin typeface="Aptos"/>
              </a:defRPr>
            </a:pPr>
            <a:r>
              <a:t>Başkalarının eser ve kişisel haklarına saygı göstermek için.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048"/>
                </a:solidFill>
                <a:latin typeface="Aptos Display"/>
              </a:defRPr>
            </a:pPr>
            <a:r>
              <a:t>19. Büyük resim: Dijital sanat kavram haritası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1960" y="2423160"/>
            <a:ext cx="3703320" cy="1143000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DİJİTAL SANAT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73152" cy="123444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271576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943A6"/>
                </a:solidFill>
                <a:latin typeface="Aptos Display"/>
              </a:defRPr>
            </a:pPr>
            <a:r>
              <a:t>◆  2D ÜRETİM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Dijital resim • illüstrasyon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3434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343400"/>
            <a:ext cx="73152" cy="1234440"/>
          </a:xfrm>
          <a:prstGeom prst="rect">
            <a:avLst/>
          </a:prstGeom>
          <a:solidFill>
            <a:srgbClr val="C3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443984"/>
            <a:ext cx="271576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434E"/>
                </a:solidFill>
                <a:latin typeface="Aptos Display"/>
              </a:defRPr>
            </a:pPr>
            <a:r>
              <a:t>◆  HAREKETLİ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Animasyon • video sanatı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234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1234440"/>
            <a:ext cx="73152" cy="1234440"/>
          </a:xfrm>
          <a:prstGeom prst="rect">
            <a:avLst/>
          </a:prstGeom>
          <a:solidFill>
            <a:srgbClr val="2C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335024"/>
            <a:ext cx="271576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9FB1"/>
                </a:solidFill>
                <a:latin typeface="Aptos Display"/>
              </a:defRPr>
            </a:pPr>
            <a:r>
              <a:t>◆  3D ÜRETİM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Modelleme • dijital heykel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3434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4343400"/>
            <a:ext cx="73152" cy="123444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4443984"/>
            <a:ext cx="271576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770BE"/>
                </a:solidFill>
                <a:latin typeface="Aptos Display"/>
              </a:defRPr>
            </a:pPr>
            <a:r>
              <a:t>◆  GÖRÜNTÜ</a:t>
            </a:r>
          </a:p>
          <a:p>
            <a:pPr>
              <a:spcAft>
                <a:spcPts val="300"/>
              </a:spcAft>
              <a:defRPr sz="1000">
                <a:solidFill>
                  <a:srgbClr val="272C39"/>
                </a:solidFill>
                <a:latin typeface="Aptos"/>
              </a:defRPr>
            </a:pPr>
            <a:r>
              <a:t>Dijital fotoğraf • düzenleme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1874519"/>
            <a:ext cx="777240" cy="868681"/>
          </a:xfrm>
          <a:prstGeom prst="line">
            <a:avLst/>
          </a:prstGeom>
          <a:ln w="25400">
            <a:solidFill>
              <a:srgbClr val="E0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74720" y="3246120"/>
            <a:ext cx="777240" cy="1691640"/>
          </a:xfrm>
          <a:prstGeom prst="line">
            <a:avLst/>
          </a:prstGeom>
          <a:ln w="25400">
            <a:solidFill>
              <a:srgbClr val="E0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55279" y="1874519"/>
            <a:ext cx="777241" cy="868681"/>
          </a:xfrm>
          <a:prstGeom prst="line">
            <a:avLst/>
          </a:prstGeom>
          <a:ln w="25400">
            <a:solidFill>
              <a:srgbClr val="E0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3246120"/>
            <a:ext cx="777241" cy="1691640"/>
          </a:xfrm>
          <a:prstGeom prst="line">
            <a:avLst/>
          </a:prstGeom>
          <a:ln w="25400">
            <a:solidFill>
              <a:srgbClr val="E0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5852160"/>
            <a:ext cx="8138160" cy="393192"/>
          </a:xfrm>
          <a:prstGeom prst="round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Hepsi ortak bir noktada buluşur: Dijital araçlarla sanatsal ifade.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20. Haftanın tek görsel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C7B"/>
                </a:solidFill>
                <a:latin typeface="Aptos"/>
              </a:defRPr>
            </a:pPr>
            <a:r>
              <a:t>Dersin tamamını tek bakışta hatırlayalım.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45720"/>
          </a:xfrm>
          <a:prstGeom prst="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🎨  TANIM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Dijital teknoloji + sanatsal ifade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🖌️  2D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Dijital resim • illüstrasyon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🎬  HAREKET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Animasyon •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🧊  3D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Modelleme • dijital heykel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📷  GÖRÜNTÜ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Dijital fotoğraf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42900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💻  ARAÇLAR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Krita • Blender • GIMP • Inkscape vb.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2900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 SÜREÇ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Fikir → taslak → üretim → düzenleme → paylaşım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429000"/>
            <a:ext cx="2514600" cy="1600200"/>
          </a:xfrm>
          <a:prstGeom prst="roundRect">
            <a:avLst/>
          </a:prstGeom>
          <a:solidFill>
            <a:srgbClr val="2C3058"/>
          </a:solidFill>
          <a:ln>
            <a:solidFill>
              <a:srgbClr val="4B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 SORUMLULUK</a:t>
            </a:r>
          </a:p>
          <a:p>
            <a:pPr algn="ctr">
              <a:defRPr sz="1000">
                <a:solidFill>
                  <a:srgbClr val="E1E6F5"/>
                </a:solidFill>
              </a:defRPr>
            </a:pPr>
            <a:r>
              <a:t>Telif • gizlilik • güvenli paylaşım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715000"/>
            <a:ext cx="813816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Dijital sanat: Teknolojiyi kullanarak fikir, duygu ve hikâyeleri yaratıcı biçimde ifade etmek.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6943A6"/>
                </a:solidFill>
              </a:defRPr>
            </a:pPr>
            <a:r>
              <a:t>DERSİN ANA FİKRİ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048"/>
                </a:solidFill>
              </a:defRPr>
            </a:pPr>
            <a:r>
              <a:t>Sanatın dili değişebilir.</a:t>
            </a:r>
            <a:br/>
            <a:r>
              <a:t>Fırça da olabilir, tablet de.</a:t>
            </a:r>
            <a:br/>
            <a:r>
              <a:t>Kamera da olabilir, 3D yazılımı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72C39"/>
                </a:solidFill>
              </a:defRPr>
            </a:pPr>
            <a:r>
              <a:t>Önemli olan sadece hangi aracı kullandığımız değil,</a:t>
            </a:r>
            <a:br/>
            <a:r>
              <a:t>ne anlatmak istediğimiz ve bunu nasıl ifade ettiğimizdir.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5532120"/>
            <a:ext cx="4663440" cy="393192"/>
          </a:xfrm>
          <a:prstGeom prst="roundRect">
            <a:avLst/>
          </a:prstGeom>
          <a:solidFill>
            <a:srgbClr val="69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Bir sonraki adım: Kendi dijital sanat eserimiz!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6C7B"/>
                </a:solidFill>
                <a:latin typeface="Aptos"/>
              </a:defRPr>
            </a:pPr>
            <a:r>
              <a:t>DS.1.1 • 6. Sınıf • Dijital Sanatlara Giriş     |   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