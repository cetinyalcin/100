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arlow"/>
      <p:regular r:id="rId201314"/>
    </p:embeddedFont>
    <p:embeddedFont>
      <p:font typeface="Barlow Bold"/>
      <p:regular r:id="rId201315"/>
    </p:embeddedFont>
    <p:embeddedFont>
      <p:font typeface="Spline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3.png"/><Relationship Id="rId10" Type="http://schemas.openxmlformats.org/officeDocument/2006/relationships/image" Target="../media/image-6-4.svg"/><Relationship Id="rId11" Type="http://schemas.openxmlformats.org/officeDocument/2006/relationships/image" Target="../media/image-6-5.png"/><Relationship Id="rId12" Type="http://schemas.openxmlformats.org/officeDocument/2006/relationships/image" Target="../media/image-6-6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image" Target="../media/image-8-2.png"/><Relationship Id="rId11" Type="http://schemas.openxmlformats.org/officeDocument/2006/relationships/image" Target="../media/image-8-3.sv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2597" y="518021"/>
            <a:ext cx="4366210" cy="58218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538611"/>
            <a:ext cx="61797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Bilişim Teknolojilerinin Hayatımızdaki Yeri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20012" y="3990181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Günlük yaşamda kullanılan bilişim teknolojilerini sınıflandırabilme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77" y="503138"/>
            <a:ext cx="4388633" cy="58517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91898" y="626368"/>
            <a:ext cx="6179784" cy="508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Dersin Hedefleri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1898" y="1380133"/>
            <a:ext cx="6179784" cy="160079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6764" y="2008783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6213320" y="1588691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Temel Kavramlar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213320" y="1941016"/>
            <a:ext cx="5049810" cy="8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Bilişim teknolojilerine ilişkin temel kavramları belirler. Veri, bilgi, donanım, yazılım, ağ ve bilişim teknolojisi arasındaki ilişkiyi açıklar.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898" y="3144044"/>
            <a:ext cx="6179784" cy="132367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36764" y="3634085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6213320" y="3352602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Geçmişten Bugüne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213320" y="3704927"/>
            <a:ext cx="5049810" cy="554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Eski ve yeni teknolojileri karşılaştırır. Boyut, hız, kapasite, erişilebilirlik ve kullanım biçimlerindeki değişimleri ilişkilendirir.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898" y="4630837"/>
            <a:ext cx="6179784" cy="160079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536764" y="5259487"/>
            <a:ext cx="274829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6213320" y="4839395"/>
            <a:ext cx="5049810" cy="2544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Sınıflandırma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213320" y="5191720"/>
            <a:ext cx="5049810" cy="83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Bilişim teknolojilerini kullanım alanlarına göre gruplandırır. Eğitim, iletişim, sağlık, ulaşım, ticaret, sanayi, tarım, güvenlik ve eğlence örneklerini ayırt eder.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881856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Teknoloji Her Yerde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864816"/>
            <a:ext cx="514337" cy="514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1518" y="1864816"/>
            <a:ext cx="447574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Akıllı Telefon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91518" y="2280345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İletişim + bilgi + eğlence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432" y="1864816"/>
            <a:ext cx="514337" cy="5143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95937" y="1864816"/>
            <a:ext cx="447574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⌚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Akıllı Saat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6995937" y="2280345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Sağlık + iletişim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021012"/>
            <a:ext cx="514337" cy="5143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91518" y="3021012"/>
            <a:ext cx="447574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🗺️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Navigasyon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491518" y="3436541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Ulaşım + konum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24432" y="3021012"/>
            <a:ext cx="514337" cy="5143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95937" y="3021012"/>
            <a:ext cx="447574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💳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Temassız Ödeme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995937" y="3436541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Ticaret + finans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0012" y="4177209"/>
            <a:ext cx="514337" cy="5143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91518" y="4177209"/>
            <a:ext cx="447574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📺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Akıllı TV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1491518" y="4592737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Eğlence + internet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24432" y="4177209"/>
            <a:ext cx="514337" cy="51435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95937" y="4177209"/>
            <a:ext cx="4475745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📷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Güvenlik Kamerası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995937" y="4592737"/>
            <a:ext cx="4475745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Güvenlik + görüntü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720012" y="5153323"/>
            <a:ext cx="10751670" cy="822821"/>
          </a:xfrm>
          <a:prstGeom prst="roundRect">
            <a:avLst>
              <a:gd name="adj" fmla="val 37505"/>
            </a:avLst>
          </a:prstGeom>
          <a:solidFill>
            <a:srgbClr val="00805A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5688" y="5446316"/>
            <a:ext cx="257169" cy="2056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388532" y="5410398"/>
            <a:ext cx="1048706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Sınıf sorusu: Aynı cihaz birden fazla kullanım alanına girebilir mi?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710531"/>
            <a:ext cx="3436852" cy="34369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5050" y="1084759"/>
            <a:ext cx="681288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Bilişim Teknolojisi Nedir?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4665050" y="1861939"/>
            <a:ext cx="6812883" cy="1501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Bilişim:</a:t>
            </a:r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Bilginin elde edilmesi, işlenmesi, saklanması, paylaşılması ve kullanılmasıyla ilgilenen alanların bütünüdür.</a:t>
            </a:r>
            <a:endParaRPr lang="en-US" sz="16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Bilişim Teknolojileri:</a:t>
            </a:r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Bilgiyi işlemek, saklamak, iletmek ve kullanmak için yararlanılan cihaz, yazılım, ağ ve sistemlerin bütünüdür.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665050" y="3646686"/>
            <a:ext cx="6812883" cy="25400"/>
          </a:xfrm>
          <a:prstGeom prst="roundRect">
            <a:avLst>
              <a:gd name="adj" fmla="val 49999"/>
            </a:avLst>
          </a:prstGeom>
          <a:solidFill>
            <a:srgbClr val="E0E4E6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665050" y="3954859"/>
            <a:ext cx="681288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Temel Kavramlar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65050" y="4446290"/>
            <a:ext cx="6812883" cy="1460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Veri: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Henüz anlamlandırılmamış ham bilgi (Örnek: 85, 90, 70)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Bilgi: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İşlenmiş ve anlamlandırılmış veri (Örnek: "Sınav ortalaması 81,7")</a:t>
            </a:r>
            <a:endParaRPr lang="en-US" sz="1600" dirty="0"/>
          </a:p>
          <a:p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Dijital Sistem:</a:t>
            </a:r>
            <a:pPr algn="l" marL="325120" indent="-325120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Veriyi işler, saklar veya iletir (Örnek: Bilgisayar + yazılım + ağ)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1386"/>
            <a:ext cx="10751670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Temel Bileşenler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20012" y="1467247"/>
            <a:ext cx="3471180" cy="2068016"/>
          </a:xfrm>
          <a:prstGeom prst="roundRect">
            <a:avLst>
              <a:gd name="adj" fmla="val 1352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5489" y="1672729"/>
            <a:ext cx="559282" cy="559296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9275" y="1826518"/>
            <a:ext cx="251612" cy="2516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5489" y="2400995"/>
            <a:ext cx="306022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🖥️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Donanım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5489" y="2761258"/>
            <a:ext cx="3060227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Fiziksel parçalar: İşlemci, ekran, klavye, kamera, yazıcı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60158" y="1467247"/>
            <a:ext cx="3471280" cy="2068016"/>
          </a:xfrm>
          <a:prstGeom prst="roundRect">
            <a:avLst>
              <a:gd name="adj" fmla="val 13524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5635" y="1672729"/>
            <a:ext cx="559282" cy="559296"/>
          </a:xfrm>
          <a:prstGeom prst="ellipse">
            <a:avLst/>
          </a:prstGeom>
          <a:solidFill>
            <a:srgbClr val="29DDD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9420" y="1826518"/>
            <a:ext cx="251612" cy="2516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65635" y="2400995"/>
            <a:ext cx="3060326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Yazılım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65635" y="2761258"/>
            <a:ext cx="3060326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Programlar ve uygulamalar: Windows, tarayıcı, mobil uygulamalar, oyunlar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00403" y="1467247"/>
            <a:ext cx="3471180" cy="2068016"/>
          </a:xfrm>
          <a:prstGeom prst="roundRect">
            <a:avLst>
              <a:gd name="adj" fmla="val 13524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05880" y="1672729"/>
            <a:ext cx="559282" cy="559296"/>
          </a:xfrm>
          <a:prstGeom prst="ellipse">
            <a:avLst/>
          </a:prstGeom>
          <a:solidFill>
            <a:srgbClr val="37A7E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9665" y="1826518"/>
            <a:ext cx="251612" cy="2516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05880" y="2400995"/>
            <a:ext cx="3060227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🗃️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Veri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205880" y="2761258"/>
            <a:ext cx="3060227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İşlenen bilgiler: Metin, fotoğraf, ses, video, ölçüm sonuçları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20012" y="3704233"/>
            <a:ext cx="5291303" cy="2068016"/>
          </a:xfrm>
          <a:prstGeom prst="roundRect">
            <a:avLst>
              <a:gd name="adj" fmla="val 13524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25489" y="3909715"/>
            <a:ext cx="559282" cy="559296"/>
          </a:xfrm>
          <a:prstGeom prst="ellipse">
            <a:avLst/>
          </a:prstGeom>
          <a:solidFill>
            <a:srgbClr val="09123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9275" y="4063504"/>
            <a:ext cx="251612" cy="2516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5489" y="4637980"/>
            <a:ext cx="488034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🌐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Ağ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25489" y="4998244"/>
            <a:ext cx="4880349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Bağlantı altyapısı: Wi-Fi, Bluetooth, okul ağı, internet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80281" y="3704233"/>
            <a:ext cx="5291303" cy="2068016"/>
          </a:xfrm>
          <a:prstGeom prst="roundRect">
            <a:avLst>
              <a:gd name="adj" fmla="val 13524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85757" y="3909715"/>
            <a:ext cx="559282" cy="559296"/>
          </a:xfrm>
          <a:prstGeom prst="ellipse">
            <a:avLst/>
          </a:prstGeom>
          <a:solidFill>
            <a:srgbClr val="16FFB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9543" y="4063504"/>
            <a:ext cx="251612" cy="25161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85757" y="4637980"/>
            <a:ext cx="4880349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👤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İnsan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385757" y="4998244"/>
            <a:ext cx="4880349" cy="5685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Kullanan ve yöneten kişi: Öğrenci, öğretmen, mühendis, doktor, tasarımcı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15220" y="5962253"/>
            <a:ext cx="11361255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45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Örnek: Telefon = donanım + yazılım + veri + ağ + insan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8133"/>
            <a:ext cx="1075167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Cihazlara Göre Sınıflandırma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0012" y="1729581"/>
            <a:ext cx="5124917" cy="12891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2685" y="1960662"/>
            <a:ext cx="456117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Kişisel Cihazlar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052685" y="2458442"/>
            <a:ext cx="456117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Bilgisayar, tablet, akıllı telefon, akıllı saat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3224411"/>
            <a:ext cx="5124917" cy="12891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2685" y="3455491"/>
            <a:ext cx="456117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⌨️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Giriş Cihazları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052685" y="3953272"/>
            <a:ext cx="456117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Klavye, fare, mikrofon, kamera, dokunmatik ekran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4719241"/>
            <a:ext cx="5124917" cy="12891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52685" y="4950321"/>
            <a:ext cx="456117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🖨️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Çıkış Cihazları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1052685" y="5448102"/>
            <a:ext cx="456117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Monitör, yazıcı, hoparlör, projeksiyon</a:t>
            </a:r>
            <a:endParaRPr lang="en-US" sz="16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53115" y="1729581"/>
            <a:ext cx="5124917" cy="12891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85787" y="1960662"/>
            <a:ext cx="456117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Depolama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6685787" y="2458442"/>
            <a:ext cx="456117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SSD, USB bellek, hafıza kartı, bulut depolama</a:t>
            </a:r>
            <a:endParaRPr lang="en-US" sz="16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53115" y="3224411"/>
            <a:ext cx="5124917" cy="128914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85787" y="3455491"/>
            <a:ext cx="456117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📡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Ağ Cihazları</a:t>
            </a:r>
            <a:endParaRPr lang="en-US" sz="1750" dirty="0"/>
          </a:p>
        </p:txBody>
      </p:sp>
      <p:sp>
        <p:nvSpPr>
          <p:cNvPr id="17" name="Text 10"/>
          <p:cNvSpPr/>
          <p:nvPr/>
        </p:nvSpPr>
        <p:spPr>
          <a:xfrm>
            <a:off x="6685787" y="3953272"/>
            <a:ext cx="456117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Modem, yönlendirici, erişim noktası, anahtar</a:t>
            </a:r>
            <a:endParaRPr lang="en-US" sz="16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3115" y="4719241"/>
            <a:ext cx="5124917" cy="12891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685787" y="4950321"/>
            <a:ext cx="456117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Akıllı / Özel Cihazlar</a:t>
            </a:r>
            <a:endParaRPr lang="en-US" sz="1750" dirty="0"/>
          </a:p>
        </p:txBody>
      </p:sp>
      <p:sp>
        <p:nvSpPr>
          <p:cNvPr id="20" name="Text 12"/>
          <p:cNvSpPr/>
          <p:nvPr/>
        </p:nvSpPr>
        <p:spPr>
          <a:xfrm>
            <a:off x="6685787" y="5448102"/>
            <a:ext cx="4561170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Robot, drone, IoT sensörü, akıllı ev cihazı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0409"/>
            <a:ext cx="1075167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Geçmişten Günümüze: Teknoloji Nasıl Değişti?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6086323" y="1230412"/>
            <a:ext cx="19050" cy="4414143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78474" y="1394420"/>
            <a:ext cx="462844" cy="19050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  <p:sp>
        <p:nvSpPr>
          <p:cNvPr id="5" name="Shape 3"/>
          <p:cNvSpPr/>
          <p:nvPr/>
        </p:nvSpPr>
        <p:spPr>
          <a:xfrm>
            <a:off x="5922269" y="1230412"/>
            <a:ext cx="347158" cy="347166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92960" y="1275407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0012" y="1283395"/>
            <a:ext cx="4604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1940–50'ler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0012" y="1567061"/>
            <a:ext cx="4604329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Büyük bilgisayarlar — Oda büyüklüğünde sistemler; sınırlı kapasite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0377" y="2242939"/>
            <a:ext cx="462844" cy="19050"/>
          </a:xfrm>
          <a:prstGeom prst="roundRect">
            <a:avLst>
              <a:gd name="adj" fmla="val 49999"/>
            </a:avLst>
          </a:prstGeom>
          <a:solidFill>
            <a:srgbClr val="29DDDA"/>
          </a:solidFill>
          <a:ln/>
        </p:spPr>
      </p:sp>
      <p:sp>
        <p:nvSpPr>
          <p:cNvPr id="10" name="Shape 8"/>
          <p:cNvSpPr/>
          <p:nvPr/>
        </p:nvSpPr>
        <p:spPr>
          <a:xfrm>
            <a:off x="5922269" y="2078930"/>
            <a:ext cx="347158" cy="347166"/>
          </a:xfrm>
          <a:prstGeom prst="ellipse">
            <a:avLst/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92960" y="2123926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67353" y="2131913"/>
            <a:ext cx="4604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1960–70'ler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67353" y="2415580"/>
            <a:ext cx="4604329" cy="431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Kişisel bilgisayarın temelleri — Daha küçük sistemler; bilgisayar kullanımı yayılıyor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78474" y="3002260"/>
            <a:ext cx="462844" cy="19050"/>
          </a:xfrm>
          <a:prstGeom prst="roundRect">
            <a:avLst>
              <a:gd name="adj" fmla="val 49999"/>
            </a:avLst>
          </a:prstGeom>
          <a:solidFill>
            <a:srgbClr val="37A7E7"/>
          </a:solidFill>
          <a:ln/>
        </p:spPr>
      </p:sp>
      <p:sp>
        <p:nvSpPr>
          <p:cNvPr id="15" name="Shape 13"/>
          <p:cNvSpPr/>
          <p:nvPr/>
        </p:nvSpPr>
        <p:spPr>
          <a:xfrm>
            <a:off x="5922269" y="2838252"/>
            <a:ext cx="347158" cy="347166"/>
          </a:xfrm>
          <a:prstGeom prst="ellipse">
            <a:avLst/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92960" y="2883247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20012" y="2891234"/>
            <a:ext cx="4604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1980–90'lar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0012" y="3174901"/>
            <a:ext cx="4604329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İnternetin yükselişi — Ağlar ve e-posta ile bilgi paylaşımı hızlanıyor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0377" y="3761680"/>
            <a:ext cx="462844" cy="19050"/>
          </a:xfrm>
          <a:prstGeom prst="roundRect">
            <a:avLst>
              <a:gd name="adj" fmla="val 49999"/>
            </a:avLst>
          </a:prstGeom>
          <a:solidFill>
            <a:srgbClr val="091231"/>
          </a:solidFill>
          <a:ln/>
        </p:spPr>
      </p:sp>
      <p:sp>
        <p:nvSpPr>
          <p:cNvPr id="20" name="Shape 18"/>
          <p:cNvSpPr/>
          <p:nvPr/>
        </p:nvSpPr>
        <p:spPr>
          <a:xfrm>
            <a:off x="5922269" y="3597672"/>
            <a:ext cx="347158" cy="347166"/>
          </a:xfrm>
          <a:prstGeom prst="ellipse">
            <a:avLst/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92960" y="3642668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67353" y="3650655"/>
            <a:ext cx="4604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2000'ler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67353" y="3934321"/>
            <a:ext cx="4604329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Mobil ve hızlı internet — Akıllı telefonlar, Wi-Fi ve sosyal medya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78474" y="4521101"/>
            <a:ext cx="462844" cy="19050"/>
          </a:xfrm>
          <a:prstGeom prst="roundRect">
            <a:avLst>
              <a:gd name="adj" fmla="val 49999"/>
            </a:avLst>
          </a:prstGeom>
          <a:solidFill>
            <a:srgbClr val="16FFBB"/>
          </a:solidFill>
          <a:ln/>
        </p:spPr>
      </p:sp>
      <p:sp>
        <p:nvSpPr>
          <p:cNvPr id="25" name="Shape 23"/>
          <p:cNvSpPr/>
          <p:nvPr/>
        </p:nvSpPr>
        <p:spPr>
          <a:xfrm>
            <a:off x="5922269" y="4357092"/>
            <a:ext cx="347158" cy="347166"/>
          </a:xfrm>
          <a:prstGeom prst="ellipse">
            <a:avLst/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2960" y="4402088"/>
            <a:ext cx="205675" cy="25707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0012" y="4410075"/>
            <a:ext cx="460432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2010+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0012" y="4693741"/>
            <a:ext cx="4604329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17000"/>
              </a:lnSpc>
              <a:buNone/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Akıllı ve bağlantılı dünya — Bulut, IoT, büyük veri ve yapay zekâ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0012" y="5774730"/>
            <a:ext cx="10751670" cy="512763"/>
          </a:xfrm>
          <a:prstGeom prst="roundRect">
            <a:avLst>
              <a:gd name="adj" fmla="val 45138"/>
            </a:avLst>
          </a:prstGeom>
          <a:solidFill>
            <a:srgbClr val="00805A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294" y="5939929"/>
            <a:ext cx="192876" cy="154285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21451" y="5928916"/>
            <a:ext cx="10705535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Temel fikir: Teknoloji değişir; insanların iletişim, bilgi ve problem çözme ihtiyaçları devam eder.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1004"/>
            <a:ext cx="10751670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Eski ve Yeni Teknolojiyi Karşılaştıralım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992213"/>
            <a:ext cx="3508188" cy="350827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6877" y="1351905"/>
            <a:ext cx="241096" cy="24110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49027" y="1346994"/>
            <a:ext cx="632890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Bilgiye Erişim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5149027" y="1695748"/>
            <a:ext cx="6328907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Basılı ansiklopedi → Arama motorları, dijital kütüphaneler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(Hız + erişilebilirlik)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86877" y="2180779"/>
            <a:ext cx="241096" cy="24110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149027" y="2175867"/>
            <a:ext cx="632890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✉️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İletişim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149027" y="2524621"/>
            <a:ext cx="6328907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Mektup → Mesajlaşma, görüntülü görüşme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(Anlık iletişim)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6877" y="3009652"/>
            <a:ext cx="241096" cy="2411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149027" y="3004741"/>
            <a:ext cx="632890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📷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Fotoğraf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5149027" y="3353495"/>
            <a:ext cx="6328907" cy="457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Filmli fotoğraf makinesi → Akıllı telefon, dijital kamera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(Çok sayıda fotoğraf + kolay paylaşım)</a:t>
            </a:r>
            <a:endParaRPr lang="en-US" sz="12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6877" y="4067522"/>
            <a:ext cx="241096" cy="24110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49027" y="4062611"/>
            <a:ext cx="632890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💾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Saklama</a:t>
            </a:r>
            <a:endParaRPr lang="en-US" sz="1400" dirty="0"/>
          </a:p>
        </p:txBody>
      </p:sp>
      <p:sp>
        <p:nvSpPr>
          <p:cNvPr id="15" name="Text 8"/>
          <p:cNvSpPr/>
          <p:nvPr/>
        </p:nvSpPr>
        <p:spPr>
          <a:xfrm>
            <a:off x="5149027" y="4411365"/>
            <a:ext cx="6328907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Disket, CD/DVD → SSD, USB, bulut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(Kapasite + taşınabilirlik)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86877" y="4896396"/>
            <a:ext cx="241096" cy="24110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149027" y="4891484"/>
            <a:ext cx="6328907" cy="223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🗺️</a:t>
            </a:r>
            <a:pPr algn="l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Harita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5149027" y="5240238"/>
            <a:ext cx="6328907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Kâğıt harita → GPS, navigasyon </a:t>
            </a:r>
            <a:pPr algn="l" indent="0" marL="0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(Konum + gerçek zamanlı yönlendirme)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4626653" y="5610423"/>
            <a:ext cx="6851280" cy="535384"/>
          </a:xfrm>
          <a:prstGeom prst="roundRect">
            <a:avLst>
              <a:gd name="adj" fmla="val 45032"/>
            </a:avLst>
          </a:prstGeom>
          <a:solidFill>
            <a:srgbClr val="262626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87383" y="5813227"/>
            <a:ext cx="200913" cy="16073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149027" y="5763617"/>
            <a:ext cx="6777761" cy="2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Soru: "Daha yeni" her zaman "daha iyi" midir? Neden?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70905"/>
            <a:ext cx="10751670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Kullanım Alanlarına Göre Sınıflandırma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20012" y="1510705"/>
            <a:ext cx="34551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8288" y="1728986"/>
            <a:ext cx="3018556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Eğitim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38288" y="2127945"/>
            <a:ext cx="3018556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EBA, e-kitap, akıllı tahta, eğitim yazılımları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8195" y="1510705"/>
            <a:ext cx="34552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86470" y="1728986"/>
            <a:ext cx="3018655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İletişim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86470" y="2127945"/>
            <a:ext cx="3018655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E-posta, mesajlaşma, görüntülü görüşme, sosyal medya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16476" y="1510705"/>
            <a:ext cx="34551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34752" y="1728986"/>
            <a:ext cx="3018556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❤️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Sağlık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34752" y="2127945"/>
            <a:ext cx="3018556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e-Nabız, MHRS, sağlık bilgi sistemleri, giyilebilirler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20012" y="3167162"/>
            <a:ext cx="34551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288" y="3385443"/>
            <a:ext cx="3018556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Ulaşım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8288" y="3784402"/>
            <a:ext cx="3018556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GPS, navigasyon, akıllı trafik, araç takip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368195" y="3167162"/>
            <a:ext cx="34552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6470" y="3385443"/>
            <a:ext cx="3018655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Ticaret &amp; Finans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6470" y="3784402"/>
            <a:ext cx="3018655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E-ticaret, online bankacılık, dijital ödeme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6476" y="3167162"/>
            <a:ext cx="34551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29DD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34752" y="3385443"/>
            <a:ext cx="3018556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🏭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Sanayi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34752" y="3784402"/>
            <a:ext cx="3018556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Robotik, otomasyon, CAD/CAM, akıllı fabrikalar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20012" y="4823619"/>
            <a:ext cx="34551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37A7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8288" y="5041900"/>
            <a:ext cx="3018556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🌱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Tarım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38288" y="5440859"/>
            <a:ext cx="3018556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Drone, akıllı sulama, sensör, hava uygulamaları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4368195" y="4823619"/>
            <a:ext cx="34552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0912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6470" y="5041900"/>
            <a:ext cx="3018655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🔐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Güvenlik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86470" y="5440859"/>
            <a:ext cx="3018655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Kamera, biyometri, alarm, erişim sistemleri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016476" y="4823619"/>
            <a:ext cx="3455107" cy="1463377"/>
          </a:xfrm>
          <a:prstGeom prst="roundRect">
            <a:avLst>
              <a:gd name="adj" fmla="val 20429"/>
            </a:avLst>
          </a:prstGeom>
          <a:solidFill>
            <a:srgbClr val="0A081B"/>
          </a:solidFill>
          <a:ln w="19050">
            <a:solidFill>
              <a:srgbClr val="16FFB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34752" y="5041900"/>
            <a:ext cx="3018556" cy="283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🎮</a:t>
            </a:r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Eğlence &amp; Medya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234752" y="5440859"/>
            <a:ext cx="3018556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YouTube, oyun, müzik, film, dijital içerik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9026"/>
            <a:ext cx="10751670" cy="517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Gerçek Hayattan Örnekler: Platform ve Uygulamalar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12" y="1474887"/>
            <a:ext cx="556405" cy="556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7550" y="1474887"/>
            <a:ext cx="176198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Eğitim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487550" y="1835150"/>
            <a:ext cx="1761982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EBA, Google Classroom, Microsoft Teams — Ders, içerik, ödev ve iletişim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663" y="1474887"/>
            <a:ext cx="556504" cy="556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28300" y="1474887"/>
            <a:ext cx="176198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💬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İletişim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228300" y="1835150"/>
            <a:ext cx="1761982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WhatsApp, Telegram, Zoom — Mesajlaşma ve görüntülü iletişim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414" y="1474887"/>
            <a:ext cx="556405" cy="5564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68951" y="1474887"/>
            <a:ext cx="176198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❤️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Sağlık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968951" y="1835150"/>
            <a:ext cx="1761982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e-Nabız, MHRS — Sağlık kayıtları ve randevu işlemleri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2065" y="1474887"/>
            <a:ext cx="556504" cy="556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09701" y="1474887"/>
            <a:ext cx="176198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Ulaşım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9709701" y="1835150"/>
            <a:ext cx="1761982" cy="8527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Google Maps, Yandex Maps — Harita, konum ve navigasyon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12" y="3310136"/>
            <a:ext cx="556405" cy="55641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7550" y="3310136"/>
            <a:ext cx="176198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🛒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Ticaret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487550" y="3670399"/>
            <a:ext cx="1761982" cy="1421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Trendyol, Hepsiburada, online bankacılık — Ürün/hizmet ve finans işlemleri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0663" y="3310136"/>
            <a:ext cx="556504" cy="5565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228300" y="3310136"/>
            <a:ext cx="1761982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💻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Tasarım &amp; Programlama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4228300" y="3929360"/>
            <a:ext cx="1761982" cy="1421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Canva, AutoCAD, Scratch, GitHub — Dijital tasarım, modelleme, kodlama ve paylaşım</a:t>
            </a:r>
            <a:endParaRPr lang="en-US" sz="14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1414" y="3310136"/>
            <a:ext cx="556405" cy="556419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968951" y="3310136"/>
            <a:ext cx="1761982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🎮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 Eğlence</a:t>
            </a:r>
            <a:endParaRPr lang="en-US" sz="1600" dirty="0"/>
          </a:p>
        </p:txBody>
      </p:sp>
      <p:sp>
        <p:nvSpPr>
          <p:cNvPr id="23" name="Text 14"/>
          <p:cNvSpPr/>
          <p:nvPr/>
        </p:nvSpPr>
        <p:spPr>
          <a:xfrm>
            <a:off x="6968951" y="3670399"/>
            <a:ext cx="1761982" cy="1137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YouTube, Spotify, dijital oyunlar — Video, müzik ve etkileşim</a:t>
            </a:r>
            <a:endParaRPr lang="en-US" sz="1450" dirty="0"/>
          </a:p>
        </p:txBody>
      </p:sp>
      <p:sp>
        <p:nvSpPr>
          <p:cNvPr id="24" name="Shape 15"/>
          <p:cNvSpPr/>
          <p:nvPr/>
        </p:nvSpPr>
        <p:spPr>
          <a:xfrm>
            <a:off x="720012" y="5540673"/>
            <a:ext cx="10751670" cy="698302"/>
          </a:xfrm>
          <a:prstGeom prst="roundRect">
            <a:avLst>
              <a:gd name="adj" fmla="val 40050"/>
            </a:avLst>
          </a:prstGeom>
          <a:solidFill>
            <a:srgbClr val="00805A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6440" y="5783461"/>
            <a:ext cx="233059" cy="18643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325926" y="5756176"/>
            <a:ext cx="10568914" cy="284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Önemli: Platform adı değil, yaptığı iş sınıflandırmayı belirlememize yardım eder.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2026-09-15T18:55:29Z</dcterms:created>
  <dcterms:modified xsi:type="dcterms:W3CDTF">2026-09-15T18:55:29Z</dcterms:modified>
</cp:coreProperties>
</file>