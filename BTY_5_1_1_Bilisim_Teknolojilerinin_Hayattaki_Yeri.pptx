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977639" cy="6858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292608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FFFFFF"/>
                </a:solidFill>
              </a:defRPr>
            </a:pPr>
            <a:r>
              <a:t>BTY.5.1.1</a:t>
            </a:r>
          </a:p>
          <a:p>
            <a:pPr>
              <a:spcBef>
                <a:spcPts val="1500"/>
              </a:spcBef>
              <a:defRPr sz="2500" b="1">
                <a:solidFill>
                  <a:srgbClr val="FFFFFF"/>
                </a:solidFill>
              </a:defRPr>
            </a:pPr>
            <a:r>
              <a:t>Bilişim Teknolojilerinin</a:t>
            </a:r>
            <a:br/>
            <a:r>
              <a:t>Hayatımızdaki Yeri</a:t>
            </a:r>
          </a:p>
          <a:p>
            <a:pPr>
              <a:spcBef>
                <a:spcPts val="1800"/>
              </a:spcBef>
              <a:defRPr sz="1300">
                <a:solidFill>
                  <a:srgbClr val="DCEBFA"/>
                </a:solidFill>
              </a:defRPr>
            </a:pPr>
            <a:r>
              <a:t>Günlük yaşamda kullanılan bilişim teknolojilerini sınıflandırabilme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9144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389120" y="914400"/>
            <a:ext cx="73152" cy="123444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90288" y="1042416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25C"/>
                </a:solidFill>
                <a:latin typeface="Aptos Display"/>
              </a:defRPr>
            </a:pPr>
            <a:r>
              <a:t>🎓  EĞİTİM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EBA • e-kitap • akıllı tahta • uzaktan öğrenme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91440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001000" y="914400"/>
            <a:ext cx="73152" cy="123444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2168" y="1042416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65B4"/>
                </a:solidFill>
                <a:latin typeface="Aptos Display"/>
              </a:defRPr>
            </a:pPr>
            <a:r>
              <a:t>💬  İLETİŞİM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Mesajlaşma • e-posta • görüntülü görüşme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23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423160"/>
            <a:ext cx="73152" cy="123444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551176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3A43"/>
                </a:solidFill>
                <a:latin typeface="Aptos Display"/>
              </a:defRPr>
            </a:pPr>
            <a:r>
              <a:t>❤  SAĞLIK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e-Nabız • MHRS • akıllı saat • tele-tıp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42316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2423160"/>
            <a:ext cx="73152" cy="123444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2551176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7E2A"/>
                </a:solidFill>
                <a:latin typeface="Aptos Display"/>
              </a:defRPr>
            </a:pPr>
            <a:r>
              <a:t>🚗  ULAŞIM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GPS • navigasyon • akıllı trafik sistemleri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9319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931920"/>
            <a:ext cx="73152" cy="123444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4059935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53FA0"/>
                </a:solidFill>
                <a:latin typeface="Aptos Display"/>
              </a:defRPr>
            </a:pPr>
            <a:r>
              <a:t>🛒  TİCARET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E-ticaret • online bankacılık • dijital ödeme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3931920"/>
            <a:ext cx="33832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3931920"/>
            <a:ext cx="73152" cy="123444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02168" y="4059935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A4BE"/>
                </a:solidFill>
                <a:latin typeface="Aptos Display"/>
              </a:defRPr>
            </a:pPr>
            <a:r>
              <a:t>🎮  EĞLENCE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Video • müzik • oyun • sosyal medya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5623560"/>
            <a:ext cx="6675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22D5C"/>
                </a:solidFill>
                <a:latin typeface="Aptos"/>
              </a:defRPr>
            </a:pPr>
            <a:r>
              <a:t>Bugün: “Bilişim teknolojisi nedir ve nerelerde kullanılır?” sorusunu birlikte çözüyoruz.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Dersin hedefleri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Kazanım: BTY.5.1.1 — Günlük yaşamda kullanılan bilişim teknolojilerini sınıflandırabilme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5544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73152" cy="356616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682495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365B4"/>
                </a:solidFill>
                <a:latin typeface="Aptos Display"/>
              </a:defRPr>
            </a:pPr>
            <a:r>
              <a:t>1  A — TEMEL KAVRAMLAR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Bilişim teknolojilerine ilişkin temel kavramları belirler.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Veri, bilgi, donanım, yazılım, ağ ve bilişim teknolojisi arasındaki ilişkiyi açıklar.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554480"/>
            <a:ext cx="73152" cy="356616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1682495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653FA0"/>
                </a:solidFill>
                <a:latin typeface="Aptos Display"/>
              </a:defRPr>
            </a:pPr>
            <a:r>
              <a:t>2  B — GEÇMİŞTEN BUGÜNE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Eski ve yeni teknolojileri karşılaştırır.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Boyut, hız, kapasite, erişilebilirlik ve kullanım biçimlerindeki değişimleri ilişkilendirir.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5448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73152" cy="356616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47888" y="1682495"/>
            <a:ext cx="3108960" cy="3337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825C"/>
                </a:solidFill>
                <a:latin typeface="Aptos Display"/>
              </a:defRPr>
            </a:pPr>
            <a:r>
              <a:t>3  C — SINIFLANDIRMA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Bilişim teknolojilerini kullanım alanlarına göre gruplandırır.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Eğitim, iletişim, sağlık, ulaşım, ticaret, sanayi, tarım, güvenlik ve eğlence örneklerini ayırt eder.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17520" y="5577840"/>
            <a:ext cx="6126480" cy="384048"/>
          </a:xfrm>
          <a:prstGeom prst="round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Ders sonunda: “Bu teknoloji hangi gruba girer?” sorusunu gerekçelendirebileceksin.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1. Isınma: Teknoloji her yerde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Ekrana bak ve düşün: Bu cihazlar hangi işi kolaylaştırıyor?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508760"/>
            <a:ext cx="73152" cy="160020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63677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365B4"/>
                </a:solidFill>
                <a:latin typeface="Aptos Display"/>
              </a:defRPr>
            </a:pPr>
            <a:r>
              <a:t>📱  Akıllı telefon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İletişim + bilgi + eğlence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508760"/>
            <a:ext cx="73152" cy="160020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63677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BE3A43"/>
                </a:solidFill>
                <a:latin typeface="Aptos Display"/>
              </a:defRPr>
            </a:pPr>
            <a:r>
              <a:t>⌚  Akıllı saat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Sağlık + iletişim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50876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508760"/>
            <a:ext cx="73152" cy="160020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63677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17E2A"/>
                </a:solidFill>
                <a:latin typeface="Aptos Display"/>
              </a:defRPr>
            </a:pPr>
            <a:r>
              <a:t>🗺️  Navigasyon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Ulaşım + konum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520440"/>
            <a:ext cx="73152" cy="160020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64845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6825C"/>
                </a:solidFill>
                <a:latin typeface="Aptos Display"/>
              </a:defRPr>
            </a:pPr>
            <a:r>
              <a:t>💳  Temassız ödeme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Ticaret + finans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520440"/>
            <a:ext cx="73152" cy="160020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64845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53FA0"/>
                </a:solidFill>
                <a:latin typeface="Aptos Display"/>
              </a:defRPr>
            </a:pPr>
            <a:r>
              <a:t>📺  Akıllı TV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Eğlence + internet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52044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520440"/>
            <a:ext cx="73152" cy="16002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64845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22D5C"/>
                </a:solidFill>
                <a:latin typeface="Aptos Display"/>
              </a:defRPr>
            </a:pPr>
            <a:r>
              <a:t>📷  Güvenlik kamerası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Güvenlik + görüntü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834640" y="5669280"/>
            <a:ext cx="6492240" cy="384048"/>
          </a:xfrm>
          <a:prstGeom prst="round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Sınıf sorusu: Aynı cihaz birden fazla kullanım alanına girebilir mi?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2. Bilişim teknolojisi nedir?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Önce “bilişim” kavramını anlayalım.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6304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73152" cy="196596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591056"/>
            <a:ext cx="49377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2365B4"/>
                </a:solidFill>
                <a:latin typeface="Aptos Display"/>
              </a:defRPr>
            </a:pPr>
            <a:r>
              <a:t>🧠  BİLİŞİM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Bilginin elde edilmesi, işlenmesi, saklanması, paylaşılması ve kullanılmasıyla ilgilenen alanların bütünüdür.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3035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63040"/>
            <a:ext cx="73152" cy="196596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91056"/>
            <a:ext cx="49377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653FA0"/>
                </a:solidFill>
                <a:latin typeface="Aptos Display"/>
              </a:defRPr>
            </a:pPr>
            <a:r>
              <a:t>💻  BİLİŞİM TEKNOLOJİLERİ</a:t>
            </a:r>
          </a:p>
          <a:p>
            <a:pPr>
              <a:spcAft>
                <a:spcPts val="400"/>
              </a:spcAft>
              <a:defRPr sz="1400">
                <a:solidFill>
                  <a:srgbClr val="232A34"/>
                </a:solidFill>
                <a:latin typeface="Aptos"/>
              </a:defRPr>
            </a:pPr>
            <a:r>
              <a:t>Bilgiyi işlemek, saklamak, iletmek ve kullanmak için yararlanılan cihaz, yazılım, ağ ve sistemlerin bütünüdür.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703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703320"/>
            <a:ext cx="73152" cy="182880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831335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17E2A"/>
                </a:solidFill>
                <a:latin typeface="Aptos Display"/>
              </a:defRPr>
            </a:pPr>
            <a:r>
              <a:t>1  VERİ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Henüz anlamlandırılmamış ham bilgi.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Örnek: 85, 90,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3703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703320"/>
            <a:ext cx="73152" cy="182880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0288" y="3831335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6825C"/>
                </a:solidFill>
                <a:latin typeface="Aptos Display"/>
              </a:defRPr>
            </a:pPr>
            <a:r>
              <a:t>2  BİLGİ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İşlenmiş ve anlamlandırılmış veri.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Örnek: “Sınav ortalaması 81,7.”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703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38160" y="3703320"/>
            <a:ext cx="73152" cy="182880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9328" y="3831335"/>
            <a:ext cx="3017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24A4BE"/>
                </a:solidFill>
                <a:latin typeface="Aptos Display"/>
              </a:defRPr>
            </a:pPr>
            <a:r>
              <a:t>3  DİJİTAL SİSTEM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Veriyi işler, saklar veya iletir.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Örnek: Bilgisayar + yazılım + ağ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3. Bilişim teknolojisinin temel bileşenleri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Bir sistemin çalışmasında parçalar birlikte görev yapar.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2011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600200"/>
            <a:ext cx="73152" cy="3977639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728216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65B4"/>
                </a:solidFill>
                <a:latin typeface="Aptos Display"/>
              </a:defRPr>
            </a:pPr>
            <a:r>
              <a:t>🖥️  DONANIM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Fiziksel parçalar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İşlemci, ekran, klavye, kamera, yazıcı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98648" y="1600200"/>
            <a:ext cx="2011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98648" y="1600200"/>
            <a:ext cx="73152" cy="3977639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99816" y="1728216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53FA0"/>
                </a:solidFill>
                <a:latin typeface="Aptos Display"/>
              </a:defRPr>
            </a:pPr>
            <a:r>
              <a:t>⚙️  YAZILIM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Programlar ve uygulamalar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Windows, tarayıcı, mobil uygulamalar, oyunlar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02936" y="1600200"/>
            <a:ext cx="2011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2936" y="1600200"/>
            <a:ext cx="73152" cy="3977639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04104" y="1728216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7E2A"/>
                </a:solidFill>
                <a:latin typeface="Aptos Display"/>
              </a:defRPr>
            </a:pPr>
            <a:r>
              <a:t>🗃️  VERİ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İşlenen bilgiler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Metin, fotoğraf, ses, video, ölçüm sonuçları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07224" y="1600200"/>
            <a:ext cx="2011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07224" y="1600200"/>
            <a:ext cx="73152" cy="3977639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1728216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A4BE"/>
                </a:solidFill>
                <a:latin typeface="Aptos Display"/>
              </a:defRPr>
            </a:pPr>
            <a:r>
              <a:t>🌐  AĞ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Bağlantı altyapısı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Wi‑Fi, Bluetooth, okul ağı, internet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11512" y="1600200"/>
            <a:ext cx="201168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11512" y="1600200"/>
            <a:ext cx="73152" cy="3977639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12680" y="1728216"/>
            <a:ext cx="16459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25C"/>
                </a:solidFill>
                <a:latin typeface="Aptos Display"/>
              </a:defRPr>
            </a:pPr>
            <a:r>
              <a:t>👤  İNSAN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Kullanan ve yöneten kişi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Öğrenci, öğretmen, mühendis, doktor, tasarımcı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77440" y="5806440"/>
            <a:ext cx="7498079" cy="384048"/>
          </a:xfrm>
          <a:prstGeom prst="round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Örnek: Telefon = donanım + yazılım + veri + ağ + insan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4. Cihazlarına göre sınıflandırma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Bilişim teknolojilerini kullandığımız fiziksel cihazlara göre de gruplayabiliriz.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417320"/>
            <a:ext cx="73152" cy="169164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545336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65B4"/>
                </a:solidFill>
                <a:latin typeface="Aptos Display"/>
              </a:defRPr>
            </a:pPr>
            <a:r>
              <a:t>💻  KİŞİSEL CİHAZLAR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Bilgisayar • tablet • akıllı telefon • akıllı saat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417320"/>
            <a:ext cx="73152" cy="169164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545336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25C"/>
                </a:solidFill>
                <a:latin typeface="Aptos Display"/>
              </a:defRPr>
            </a:pPr>
            <a:r>
              <a:t>⌨️  GİRİŞ CİHAZLARI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Klavye • fare • mikrofon • kamera • dokunmatik ekran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173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83880" y="1417320"/>
            <a:ext cx="73152" cy="169164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545336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7E2A"/>
                </a:solidFill>
                <a:latin typeface="Aptos Display"/>
              </a:defRPr>
            </a:pPr>
            <a:r>
              <a:t>🖨️  ÇIKIŞ CİHAZLARI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Monitör • yazıcı • hoparlör • projeksiyon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4747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474720"/>
            <a:ext cx="73152" cy="169164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602736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53FA0"/>
                </a:solidFill>
                <a:latin typeface="Aptos Display"/>
              </a:defRPr>
            </a:pPr>
            <a:r>
              <a:t>💾  DEPOLAMA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SSD • USB bellek • hafıza kartı • bulut depolama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34747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3474720"/>
            <a:ext cx="73152" cy="169164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3602736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A4BE"/>
                </a:solidFill>
                <a:latin typeface="Aptos Display"/>
              </a:defRPr>
            </a:pPr>
            <a:r>
              <a:t>📡  AĞ CİHAZLARI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Modem • yönlendirici • erişim noktası • anahtar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474720"/>
            <a:ext cx="338328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83880" y="3474720"/>
            <a:ext cx="73152" cy="169164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3602736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3A43"/>
                </a:solidFill>
                <a:latin typeface="Aptos Display"/>
              </a:defRPr>
            </a:pPr>
            <a:r>
              <a:t>🤖  AKILLI/ÖZEL CİHAZLAR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Robot • drone • IoT sensörü • akıllı ev cihazı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5. Geçmişten günümüze: teknoloji nasıl değişti?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Benzer amaçlar, farklı araçlar: iletişim, hesaplama, saklama ve bilgiye erişim.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2057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508760"/>
            <a:ext cx="73152" cy="3977639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636776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D5C"/>
                </a:solidFill>
                <a:latin typeface="Aptos Display"/>
              </a:defRPr>
            </a:pPr>
            <a:r>
              <a:t>●  1940–50’ler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Büyük bilgisayarlar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Oda büyüklüğünde sistemler; sınırlı kapasite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1508760"/>
            <a:ext cx="2057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34639" y="1508760"/>
            <a:ext cx="73152" cy="3977639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35808" y="1636776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65B4"/>
                </a:solidFill>
                <a:latin typeface="Aptos Display"/>
              </a:defRPr>
            </a:pPr>
            <a:r>
              <a:t>●  1960–70’ler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Kişisel bilgisayarın temelleri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Daha küçük sistemler; bilgisayar kullanımı yayılıyor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1508760"/>
            <a:ext cx="2057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66359" y="1508760"/>
            <a:ext cx="73152" cy="3977639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7" y="1636776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53FA0"/>
                </a:solidFill>
                <a:latin typeface="Aptos Display"/>
              </a:defRPr>
            </a:pPr>
            <a:r>
              <a:t>●  1980–90’lar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İnternetin yükselişi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Ağlar ve e-posta ile bilgi paylaşımı hızlanıyor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1508760"/>
            <a:ext cx="2057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498079" y="1508760"/>
            <a:ext cx="73152" cy="3977639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99248" y="1636776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A4BE"/>
                </a:solidFill>
                <a:latin typeface="Aptos Display"/>
              </a:defRPr>
            </a:pPr>
            <a:r>
              <a:t>●  2000’ler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Mobil ve hızlı internet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Akıllı telefonlar, Wi‑Fi ve sosyal medya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1508760"/>
            <a:ext cx="2057400" cy="3977639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829800" y="1508760"/>
            <a:ext cx="73152" cy="3977639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30968" y="1636776"/>
            <a:ext cx="16916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825C"/>
                </a:solidFill>
                <a:latin typeface="Aptos Display"/>
              </a:defRPr>
            </a:pPr>
            <a:r>
              <a:t>●  2010+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Akıllı ve bağlantılı dünya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Bulut, IoT, büyük veri ve yapay zekâ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5760720"/>
            <a:ext cx="7680960" cy="384048"/>
          </a:xfrm>
          <a:prstGeom prst="round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Temel fikir: Teknoloji değişir; insanların iletişim, bilgi ve problem çözme ihtiyaçları devam eder.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6. Eski ve yeni teknolojiyi karşılaştıralım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2011680" cy="502920"/>
          </a:xfrm>
          <a:prstGeom prst="rect">
            <a:avLst/>
          </a:prstGeom>
          <a:solidFill>
            <a:srgbClr val="122D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İhtiyaç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1417320"/>
            <a:ext cx="2743200" cy="502920"/>
          </a:xfrm>
          <a:prstGeom prst="rect">
            <a:avLst/>
          </a:prstGeom>
          <a:solidFill>
            <a:srgbClr val="122D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Geçmişte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257800" y="1417320"/>
            <a:ext cx="3291840" cy="502920"/>
          </a:xfrm>
          <a:prstGeom prst="rect">
            <a:avLst/>
          </a:prstGeom>
          <a:solidFill>
            <a:srgbClr val="122D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Günümüzde</a:t>
            </a:r>
          </a:p>
        </p:txBody>
      </p:sp>
      <p:sp>
        <p:nvSpPr>
          <p:cNvPr id="8" name="Rectangle 7"/>
          <p:cNvSpPr/>
          <p:nvPr/>
        </p:nvSpPr>
        <p:spPr>
          <a:xfrm>
            <a:off x="8549640" y="1417320"/>
            <a:ext cx="2468880" cy="502920"/>
          </a:xfrm>
          <a:prstGeom prst="rect">
            <a:avLst/>
          </a:prstGeom>
          <a:solidFill>
            <a:srgbClr val="122D5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Değişimin etkisi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2011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A34"/>
                </a:solidFill>
              </a:defRPr>
            </a:pPr>
            <a:r>
              <a:t>Bilgiye erişim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2024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Basılı ansiklopedi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257800" y="1920240"/>
            <a:ext cx="32918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Arama motorları • dijital kütüphaneler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49640" y="1920240"/>
            <a:ext cx="24688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Hız + erişilebilirlik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697480"/>
            <a:ext cx="201168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A34"/>
                </a:solidFill>
              </a:defRPr>
            </a:pPr>
            <a:r>
              <a:t>İletişim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14600" y="2697480"/>
            <a:ext cx="274320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Mektup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2697480"/>
            <a:ext cx="329184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Mesajlaşma • görüntülü görüşme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2697480"/>
            <a:ext cx="246888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Anlık iletişim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474720"/>
            <a:ext cx="2011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A34"/>
                </a:solidFill>
              </a:defRPr>
            </a:pPr>
            <a:r>
              <a:t>Fotoğraf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14600" y="347472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Filmli fotoğraf makinesi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3474720"/>
            <a:ext cx="32918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Akıllı telefon • dijital kamera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49640" y="3474720"/>
            <a:ext cx="24688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Çok sayıda fotoğraf + kolay paylaşım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201168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A34"/>
                </a:solidFill>
              </a:defRPr>
            </a:pPr>
            <a:r>
              <a:t>Saklama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4251960"/>
            <a:ext cx="274320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Disket • CD/DVD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257800" y="4251960"/>
            <a:ext cx="329184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SSD • USB • bulut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4251960"/>
            <a:ext cx="2468880" cy="777240"/>
          </a:xfrm>
          <a:prstGeom prst="rect">
            <a:avLst/>
          </a:prstGeom>
          <a:solidFill>
            <a:srgbClr val="F5F8FC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Kapasite + taşınabilirlik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029200"/>
            <a:ext cx="20116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232A34"/>
                </a:solidFill>
              </a:defRPr>
            </a:pPr>
            <a:r>
              <a:t>Harita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14600" y="5029200"/>
            <a:ext cx="27432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Kâğıt harita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257800" y="5029200"/>
            <a:ext cx="329184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GPS • navigasyon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49640" y="5029200"/>
            <a:ext cx="2468880" cy="777240"/>
          </a:xfrm>
          <a:prstGeom prst="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232A34"/>
                </a:solidFill>
              </a:defRPr>
            </a:pPr>
            <a:r>
              <a:t>Konum + gerçek zamanlı yönlendirme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514600" y="5989320"/>
            <a:ext cx="7132320" cy="384048"/>
          </a:xfrm>
          <a:prstGeom prst="round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Soru: “Daha yeni” her zaman “daha iyi” midir? Neden?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7. Kullanım alanlarına göre sınıflandırma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Kazanımın merkezindeyiz: aynı teknoloji farklı alanlarda kullanılabilir.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11480" y="13716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71600"/>
            <a:ext cx="73152" cy="128016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4996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825C"/>
                </a:solidFill>
                <a:latin typeface="Aptos Display"/>
              </a:defRPr>
            </a:pPr>
            <a:r>
              <a:t>🎓  1 • EĞİTİM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EBA • e-kitap • akıllı tahta • eğitim yazılımları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13716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371600"/>
            <a:ext cx="73152" cy="128016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4996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65B4"/>
                </a:solidFill>
                <a:latin typeface="Aptos Display"/>
              </a:defRPr>
            </a:pPr>
            <a:r>
              <a:t>💬  2 • İLETİŞİM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E-posta • mesajlaşma • görüntülü görüşme • sosyal medya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38744" y="13716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38744" y="1371600"/>
            <a:ext cx="73152" cy="128016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4996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E3A43"/>
                </a:solidFill>
                <a:latin typeface="Aptos Display"/>
              </a:defRPr>
            </a:pPr>
            <a:r>
              <a:t>❤  3 • SAĞLIK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e-Nabız • MHRS • sağlık bilgi sistemleri • giyilebilirler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11480" y="29718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971800"/>
            <a:ext cx="73152" cy="128016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30998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7E2A"/>
                </a:solidFill>
                <a:latin typeface="Aptos Display"/>
              </a:defRPr>
            </a:pPr>
            <a:r>
              <a:t>🚗  4 • ULAŞIM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GPS • navigasyon • akıllı trafik • araç takip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29718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25112" y="2971800"/>
            <a:ext cx="73152" cy="128016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0998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53FA0"/>
                </a:solidFill>
                <a:latin typeface="Aptos Display"/>
              </a:defRPr>
            </a:pPr>
            <a:r>
              <a:t>🛒  5 • TİCARET &amp; FİNANS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E-ticaret • online bankacılık • dijital ödeme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38744" y="29718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38744" y="2971800"/>
            <a:ext cx="73152" cy="128016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39912" y="30998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D5C"/>
                </a:solidFill>
                <a:latin typeface="Aptos Display"/>
              </a:defRPr>
            </a:pPr>
            <a:r>
              <a:t>🏭  6 • SANAYİ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Robotik • otomasyon • CAD/CAM • akıllı fabrikalar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45720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572000"/>
            <a:ext cx="73152" cy="128016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47000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825C"/>
                </a:solidFill>
                <a:latin typeface="Aptos Display"/>
              </a:defRPr>
            </a:pPr>
            <a:r>
              <a:t>🌱  7 • TARIM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Drone • akıllı sulama • sensör • hava uygulamaları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5112" y="45720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5112" y="4572000"/>
            <a:ext cx="73152" cy="128016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6280" y="47000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E3A43"/>
                </a:solidFill>
                <a:latin typeface="Aptos Display"/>
              </a:defRPr>
            </a:pPr>
            <a:r>
              <a:t>🔐  8 • GÜVENLİK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Kamera • biyometri • alarm • erişim sistemleri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38744" y="4572000"/>
            <a:ext cx="35661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38744" y="4572000"/>
            <a:ext cx="73152" cy="128016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39912" y="4700016"/>
            <a:ext cx="32004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A4BE"/>
                </a:solidFill>
                <a:latin typeface="Aptos Display"/>
              </a:defRPr>
            </a:pPr>
            <a:r>
              <a:t>🎮  9 • EĞLENCE &amp; MEDYA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YouTube • oyun • müzik • film • dijital içerik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8. Gerçek hayattan örnekler: platform ve uygulamalar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Dijital araçları sadece isim olarak değil, hangi ihtiyacı çözdüğüyle düşün.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7160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71600"/>
            <a:ext cx="73152" cy="100584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9961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6825C"/>
                </a:solidFill>
                <a:latin typeface="Aptos Display"/>
              </a:defRPr>
            </a:pPr>
            <a:r>
              <a:t>●  EĞİTİM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EBA • Google Classroom • Microsoft Teams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Ders, içerik, ödev ve iletişim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371600"/>
            <a:ext cx="73152" cy="100584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49961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365B4"/>
                </a:solidFill>
                <a:latin typeface="Aptos Display"/>
              </a:defRPr>
            </a:pPr>
            <a:r>
              <a:t>●  İLETİŞİM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WhatsApp • Telegram • Zoom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Mesajlaşma ve görüntülü iletişim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0604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606040"/>
            <a:ext cx="73152" cy="100584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73405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BE3A43"/>
                </a:solidFill>
                <a:latin typeface="Aptos Display"/>
              </a:defRPr>
            </a:pPr>
            <a:r>
              <a:t>●  SAĞLIK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e‑Nabız • MHRS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Sağlık kayıtları ve randevu işlemleri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60604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606040"/>
            <a:ext cx="73152" cy="100584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273405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E17E2A"/>
                </a:solidFill>
                <a:latin typeface="Aptos Display"/>
              </a:defRPr>
            </a:pPr>
            <a:r>
              <a:t>●  ULAŞIM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Google Maps • Yandex Maps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Harita, konum ve navigasyon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4048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3840480"/>
            <a:ext cx="73152" cy="100584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96849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653FA0"/>
                </a:solidFill>
                <a:latin typeface="Aptos Display"/>
              </a:defRPr>
            </a:pPr>
            <a:r>
              <a:t>●  TİCARET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Trendyol • Hepsiburada • online bankacılık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Ürün/hizmet ve finans işlemleri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84048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3840480"/>
            <a:ext cx="73152" cy="100584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96849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4A4BE"/>
                </a:solidFill>
                <a:latin typeface="Aptos Display"/>
              </a:defRPr>
            </a:pPr>
            <a:r>
              <a:t>●  TASARIM / ÜRETİM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Canva • AutoCAD • Blender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Dijital tasarım ve modelleme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94360" y="507492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94360" y="5074920"/>
            <a:ext cx="73152" cy="100584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8" y="520293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D5C"/>
                </a:solidFill>
                <a:latin typeface="Aptos Display"/>
              </a:defRPr>
            </a:pPr>
            <a:r>
              <a:t>●  PROGRAMLAMA / ÜRETİM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Scratch • GitHub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Kodlama, proje ve paylaşım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5074920"/>
            <a:ext cx="525780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5074920"/>
            <a:ext cx="73152" cy="1005840"/>
          </a:xfrm>
          <a:prstGeom prst="rect">
            <a:avLst/>
          </a:prstGeom>
          <a:solidFill>
            <a:srgbClr val="DDA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0528" y="5202936"/>
            <a:ext cx="4892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DAA2D"/>
                </a:solidFill>
                <a:latin typeface="Aptos Display"/>
              </a:defRPr>
            </a:pPr>
            <a:r>
              <a:t>●  EĞLENCE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YouTube • Spotify • dijital oyunlar</a:t>
            </a:r>
          </a:p>
          <a:p>
            <a:pPr>
              <a:spcAft>
                <a:spcPts val="400"/>
              </a:spcAft>
              <a:defRPr sz="900">
                <a:solidFill>
                  <a:srgbClr val="232A34"/>
                </a:solidFill>
                <a:latin typeface="Aptos"/>
              </a:defRPr>
            </a:pPr>
            <a:r>
              <a:t>Video, müzik ve etkileşim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834640" y="6309360"/>
            <a:ext cx="6400800" cy="384048"/>
          </a:xfrm>
          <a:prstGeom prst="round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Önemli: Platform adı değil, yaptığı iş sınıflandırmayı belirlememize yardım eder.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9. Çok önemli fikir: Bir cihaz, birçok kullanım alanı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365760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73152" cy="416052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1591056"/>
            <a:ext cx="32918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365B4"/>
                </a:solidFill>
                <a:latin typeface="Aptos Display"/>
              </a:defRPr>
            </a:pPr>
            <a:r>
              <a:t>★  📱 AKILLI TELEFON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Eğitim → ders videosu, e-kitap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İletişim → mesaj, görüntülü görüşme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Sağlık → adım/uyku takibi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Ulaşım → GPS, navigasyon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Ticaret → alışveriş, dijital ödeme</a:t>
            </a: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</a:p>
          <a:p>
            <a:pPr>
              <a:spcAft>
                <a:spcPts val="400"/>
              </a:spcAft>
              <a:defRPr sz="1200">
                <a:solidFill>
                  <a:srgbClr val="232A34"/>
                </a:solidFill>
                <a:latin typeface="Aptos"/>
              </a:defRPr>
            </a:pPr>
            <a:r>
              <a:t>Eğlence → video, oyun, müzik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92040" y="1508760"/>
            <a:ext cx="2194560" cy="384048"/>
          </a:xfrm>
          <a:prstGeom prst="round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EĞİTİM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2240280"/>
            <a:ext cx="2194560" cy="384048"/>
          </a:xfrm>
          <a:prstGeom prst="round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İLETİŞİM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971800"/>
            <a:ext cx="2194560" cy="384048"/>
          </a:xfrm>
          <a:prstGeom prst="round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SAĞLIK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92040" y="3703320"/>
            <a:ext cx="2194560" cy="384048"/>
          </a:xfrm>
          <a:prstGeom prst="round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ULAŞIM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4434840"/>
            <a:ext cx="2194560" cy="384048"/>
          </a:xfrm>
          <a:prstGeom prst="round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TİCARET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92040" y="5166360"/>
            <a:ext cx="2194560" cy="384048"/>
          </a:xfrm>
          <a:prstGeom prst="round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EĞLENCE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52360" y="1463040"/>
            <a:ext cx="40690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52360" y="1463040"/>
            <a:ext cx="73152" cy="416052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53528" y="1591056"/>
            <a:ext cx="3703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53FA0"/>
                </a:solidFill>
                <a:latin typeface="Aptos Display"/>
              </a:defRPr>
            </a:pPr>
            <a:r>
              <a:t>💡  NEDEN SINIFLANDIRIYORUZ?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Teknolojileri daha kolay anlamak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Benzer araçları gruplamak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Hangi alanda kullanıldığını görmek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Doğru teknolojiyi doğru amaçla seçmek</a:t>
            </a:r>
          </a:p>
          <a:p>
            <a:pPr>
              <a:spcAft>
                <a:spcPts val="400"/>
              </a:spcAft>
              <a:defRPr sz="1300">
                <a:solidFill>
                  <a:srgbClr val="232A34"/>
                </a:solidFill>
                <a:latin typeface="Aptos"/>
              </a:defRPr>
            </a:pPr>
            <a:r>
              <a:t>• Teknolojinin hayatımıza etkisini değerlendirmek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10. Bilişim teknolojileri hayatımızı nasıl etkiliyor?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417320"/>
            <a:ext cx="73152" cy="160020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4533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65B4"/>
                </a:solidFill>
                <a:latin typeface="Aptos Display"/>
              </a:defRPr>
            </a:pPr>
            <a:r>
              <a:t>⚡  HIZ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İşlemleri ve bilgiye erişimi hızlandırır.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417320"/>
            <a:ext cx="73152" cy="160020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54533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25C"/>
                </a:solidFill>
                <a:latin typeface="Aptos Display"/>
              </a:defRPr>
            </a:pPr>
            <a:r>
              <a:t>🌐  ERİŞİM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Bilgi ve hizmetlere farklı yerlerden ulaşmayı sağlar.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83880" y="141732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83880" y="1417320"/>
            <a:ext cx="73152" cy="160020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4533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53FA0"/>
                </a:solidFill>
                <a:latin typeface="Aptos Display"/>
              </a:defRPr>
            </a:pPr>
            <a:r>
              <a:t>📈  VERİMLİLİK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Tekrarlı işleri otomatikleştirerek zaman kazandırabilir.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3429000"/>
            <a:ext cx="73152" cy="160020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55701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4A4BE"/>
                </a:solidFill>
                <a:latin typeface="Aptos Display"/>
              </a:defRPr>
            </a:pPr>
            <a:r>
              <a:t>💬  İLETİŞİM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İnsanları uzak mesafelerde bile bir araya getirir.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89120" y="3429000"/>
            <a:ext cx="73152" cy="160020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55701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7E2A"/>
                </a:solidFill>
                <a:latin typeface="Aptos Display"/>
              </a:defRPr>
            </a:pPr>
            <a:r>
              <a:t>💡  YARATICILIK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Tasarım, kodlama, medya ve üretim olanaklarını artırır.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29000"/>
            <a:ext cx="338328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80" y="3429000"/>
            <a:ext cx="73152" cy="160020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85048" y="3557016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3A43"/>
                </a:solidFill>
                <a:latin typeface="Aptos Display"/>
              </a:defRPr>
            </a:pPr>
            <a:r>
              <a:t>🚀  YENİ MESLEKLER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Teknoloji yeni iş ve uzmanlık alanları doğurur.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5715000"/>
            <a:ext cx="8229600" cy="384048"/>
          </a:xfrm>
          <a:prstGeom prst="round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Teknoloji bir araçtır: sonuç, onu hangi amaçla ve nasıl kullandığımıza bağlıdır.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11. Bilinçli ve güvenli kullanım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Bilişim teknolojilerini kullanmak kadar doğru kullanmak da önemlidir.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17320"/>
            <a:ext cx="73152" cy="123444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BE3A43"/>
                </a:solidFill>
                <a:latin typeface="Aptos Display"/>
              </a:defRPr>
            </a:pPr>
            <a:r>
              <a:t>✓  GİZLİLİK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Şifrelerini ve kişisel bilgilerini koru.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1732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417320"/>
            <a:ext cx="73152" cy="123444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545336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E17E2A"/>
                </a:solidFill>
                <a:latin typeface="Aptos Display"/>
              </a:defRPr>
            </a:pPr>
            <a:r>
              <a:t>✓  GÜVENLİK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Şüpheli bağlantı ve dosyalara dikkat 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9260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926080"/>
            <a:ext cx="73152" cy="123444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054096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53FA0"/>
                </a:solidFill>
                <a:latin typeface="Aptos Display"/>
              </a:defRPr>
            </a:pPr>
            <a:r>
              <a:t>✓  DİJİTAL İZ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Paylaştığın içeriklerin iz bırakabileceğini unutma.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92608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926080"/>
            <a:ext cx="73152" cy="123444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7" y="3054096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365B4"/>
                </a:solidFill>
                <a:latin typeface="Aptos Display"/>
              </a:defRPr>
            </a:pPr>
            <a:r>
              <a:t>✓  KAYNAK KONTROLÜ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Her gördüğün bilgiyi doğru kabul etme.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348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434840"/>
            <a:ext cx="73152" cy="123444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562855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6825C"/>
                </a:solidFill>
                <a:latin typeface="Aptos Display"/>
              </a:defRPr>
            </a:pPr>
            <a:r>
              <a:t>✓  DENGELİ KULLANIM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Ekran süresi ile fiziksel/sosyal etkinlikleri dengele.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4434840"/>
            <a:ext cx="521208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4434840"/>
            <a:ext cx="73152" cy="123444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7" y="4562855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22D5C"/>
                </a:solidFill>
                <a:latin typeface="Aptos Display"/>
              </a:defRPr>
            </a:pPr>
            <a:r>
              <a:t>✓  ETİK</a:t>
            </a:r>
          </a:p>
          <a:p>
            <a:pPr>
              <a:spcAft>
                <a:spcPts val="400"/>
              </a:spcAft>
              <a:defRPr sz="1100">
                <a:solidFill>
                  <a:srgbClr val="232A34"/>
                </a:solidFill>
                <a:latin typeface="Aptos"/>
              </a:defRPr>
            </a:pPr>
            <a:r>
              <a:t>Başkasının içeriğini izinsiz kopyalama; saygılı iletişim kur.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12. Sınıf etkinliği: “Nereye ait?”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Her örneği uygun kullanım alanına yerleştir. Bazıları birden fazla gruba girebilir.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73152" cy="114300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49961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825C"/>
                </a:solidFill>
                <a:latin typeface="Aptos Display"/>
              </a:defRPr>
            </a:pPr>
            <a:r>
              <a:t>?  Akıllı tahta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Eğitim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3716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114300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49961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E3A43"/>
                </a:solidFill>
                <a:latin typeface="Aptos Display"/>
              </a:defRPr>
            </a:pPr>
            <a:r>
              <a:t>?  Hastane randevu sistemi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Sağlık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7160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75320" y="1371600"/>
            <a:ext cx="73152" cy="1143000"/>
          </a:xfrm>
          <a:prstGeom prst="rect">
            <a:avLst/>
          </a:prstGeom>
          <a:solidFill>
            <a:srgbClr val="E17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49961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7E2A"/>
                </a:solidFill>
                <a:latin typeface="Aptos Display"/>
              </a:defRPr>
            </a:pPr>
            <a:r>
              <a:t>?  GPS navigasyon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Ulaşım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27889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73152" cy="114300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291693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53FA0"/>
                </a:solidFill>
                <a:latin typeface="Aptos Display"/>
              </a:defRPr>
            </a:pPr>
            <a:r>
              <a:t>?  Online mağaza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Ticaret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27889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89120" y="2788920"/>
            <a:ext cx="73152" cy="1143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0288" y="291693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22D5C"/>
                </a:solidFill>
                <a:latin typeface="Aptos Display"/>
              </a:defRPr>
            </a:pPr>
            <a:r>
              <a:t>?  Fabrika robotu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Sanayi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75320" y="278892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75320" y="2788920"/>
            <a:ext cx="73152" cy="114300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2916936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825C"/>
                </a:solidFill>
                <a:latin typeface="Aptos Display"/>
              </a:defRPr>
            </a:pPr>
            <a:r>
              <a:t>?  Akıllı sulama sistemi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Tarım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2062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73152" cy="1143000"/>
          </a:xfrm>
          <a:prstGeom prst="rect">
            <a:avLst/>
          </a:prstGeom>
          <a:solidFill>
            <a:srgbClr val="BE3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433425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BE3A43"/>
                </a:solidFill>
                <a:latin typeface="Aptos Display"/>
              </a:defRPr>
            </a:pPr>
            <a:r>
              <a:t>?  Parmak izi okuyucu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Güvenlik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89120" y="42062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89120" y="4206240"/>
            <a:ext cx="73152" cy="114300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33425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A4BE"/>
                </a:solidFill>
                <a:latin typeface="Aptos Display"/>
              </a:defRPr>
            </a:pPr>
            <a:r>
              <a:t>?  Video platformu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Eğlence / Medya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206240"/>
            <a:ext cx="35204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4206240"/>
            <a:ext cx="73152" cy="114300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76488" y="4334255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65B4"/>
                </a:solidFill>
                <a:latin typeface="Aptos Display"/>
              </a:defRPr>
            </a:pPr>
            <a:r>
              <a:t>?  Görüntülü görüşme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Cevap: İletişim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03120" y="5989320"/>
            <a:ext cx="8046720" cy="384048"/>
          </a:xfrm>
          <a:prstGeom prst="round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Bonus: Bir örneği seç ve “Neden bu gruba koydum?” cümlesini kur.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13. Hızlı değerlendirme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Cevapları önce düşün, sonra sınıfça tartış.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325880"/>
            <a:ext cx="73152" cy="1143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8" y="1453895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D5C"/>
                </a:solidFill>
                <a:latin typeface="Aptos Display"/>
              </a:defRPr>
            </a:pPr>
            <a:r>
              <a:t>1  “85, 90, 70” gibi ham değerler ne olarak adlandırılır?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Veri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32588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25880"/>
            <a:ext cx="73152" cy="1143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453895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D5C"/>
                </a:solidFill>
                <a:latin typeface="Aptos Display"/>
              </a:defRPr>
            </a:pPr>
            <a:r>
              <a:t>2  Bilgisayarın fiziksel parçalarına ne denir?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Donanım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7432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4360" y="2743200"/>
            <a:ext cx="73152" cy="1143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" y="2871216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D5C"/>
                </a:solidFill>
                <a:latin typeface="Aptos Display"/>
              </a:defRPr>
            </a:pPr>
            <a:r>
              <a:t>3  GPS ve navigasyon hangi kullanım alanıyla ilişkilidir?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Ulaşım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74320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2743200"/>
            <a:ext cx="73152" cy="1143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2871216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D5C"/>
                </a:solidFill>
                <a:latin typeface="Aptos Display"/>
              </a:defRPr>
            </a:pPr>
            <a:r>
              <a:t>4  EBA hangi alana örnektir?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Eğitim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1605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94360" y="4160520"/>
            <a:ext cx="73152" cy="1143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4288536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D5C"/>
                </a:solidFill>
                <a:latin typeface="Aptos Display"/>
              </a:defRPr>
            </a:pPr>
            <a:r>
              <a:t>5  Bir akıllı telefon tek bir kullanım alanına mı aittir?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Hayır; birçok alanda kullanılabilir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160520"/>
            <a:ext cx="52578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4160520"/>
            <a:ext cx="73152" cy="1143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288536"/>
            <a:ext cx="4892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22D5C"/>
                </a:solidFill>
                <a:latin typeface="Aptos Display"/>
              </a:defRPr>
            </a:pPr>
            <a:r>
              <a:t>6  Bilişim teknolojilerinin temel amacı nedir?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Bilgiyi işlemek, saklamak, iletmek ve kullanmak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14. Büyük resim: Kavram haritası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Dersin tamamını tek şemada hatırlayalım.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343400" y="2423160"/>
            <a:ext cx="3520440" cy="1051560"/>
          </a:xfrm>
          <a:prstGeom prst="round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BİLİŞİM TEKNOLOJİLERİ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097280"/>
          </a:xfrm>
          <a:prstGeom prst="rect">
            <a:avLst/>
          </a:prstGeom>
          <a:solidFill>
            <a:srgbClr val="2365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54533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65B4"/>
                </a:solidFill>
                <a:latin typeface="Aptos Display"/>
              </a:defRPr>
            </a:pPr>
            <a:r>
              <a:t>◆  TEMEL KAVRAMLAR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Veri • bilgi • donanım • yazılım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416052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94360" y="4160520"/>
            <a:ext cx="73152" cy="109728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428853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4A4BE"/>
                </a:solidFill>
                <a:latin typeface="Aptos Display"/>
              </a:defRPr>
            </a:pPr>
            <a:r>
              <a:t>◆  CİHAZLAR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Bilgisayar • telefon • sensör • robot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41080" y="141732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641080" y="1417320"/>
            <a:ext cx="73152" cy="1097280"/>
          </a:xfrm>
          <a:prstGeom prst="rect">
            <a:avLst/>
          </a:prstGeom>
          <a:solidFill>
            <a:srgbClr val="26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42248" y="154533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6825C"/>
                </a:solidFill>
                <a:latin typeface="Aptos Display"/>
              </a:defRPr>
            </a:pPr>
            <a:r>
              <a:t>◆  KULLANIM ALANLARI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Eğitim • sağlık • ulaşım • ticaret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4160520"/>
            <a:ext cx="29260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1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41080" y="4160520"/>
            <a:ext cx="73152" cy="1097280"/>
          </a:xfrm>
          <a:prstGeom prst="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42248" y="4288536"/>
            <a:ext cx="25603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653FA0"/>
                </a:solidFill>
                <a:latin typeface="Aptos Display"/>
              </a:defRPr>
            </a:pPr>
            <a:r>
              <a:t>◆  DEĞİŞİM</a:t>
            </a:r>
          </a:p>
          <a:p>
            <a:pPr>
              <a:spcAft>
                <a:spcPts val="400"/>
              </a:spcAft>
              <a:defRPr sz="1000">
                <a:solidFill>
                  <a:srgbClr val="232A34"/>
                </a:solidFill>
                <a:latin typeface="Aptos"/>
              </a:defRPr>
            </a:pPr>
            <a:r>
              <a:t>Daha hızlı • küçük • bağlantılı • akıllı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520440" y="1965960"/>
            <a:ext cx="822960" cy="777240"/>
          </a:xfrm>
          <a:prstGeom prst="line">
            <a:avLst/>
          </a:prstGeom>
          <a:ln w="25400">
            <a:solidFill>
              <a:srgbClr val="E1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3520440" y="3154680"/>
            <a:ext cx="822960" cy="1554480"/>
          </a:xfrm>
          <a:prstGeom prst="line">
            <a:avLst/>
          </a:prstGeom>
          <a:ln w="25400">
            <a:solidFill>
              <a:srgbClr val="E1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7863840" y="1965960"/>
            <a:ext cx="777240" cy="777240"/>
          </a:xfrm>
          <a:prstGeom prst="line">
            <a:avLst/>
          </a:prstGeom>
          <a:ln w="25400">
            <a:solidFill>
              <a:srgbClr val="E1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7863840" y="3154680"/>
            <a:ext cx="777240" cy="1554480"/>
          </a:xfrm>
          <a:prstGeom prst="line">
            <a:avLst/>
          </a:prstGeom>
          <a:ln w="25400">
            <a:solidFill>
              <a:srgbClr val="E1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2743200" y="5715000"/>
            <a:ext cx="6675120" cy="384048"/>
          </a:xfrm>
          <a:prstGeom prst="round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SINIFLANDIRMA = Benzer özellikteki teknolojileri anlamlı gruplara ayırmak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122D5C"/>
                </a:solidFill>
                <a:latin typeface="Aptos Display"/>
              </a:defRPr>
            </a:pPr>
            <a:r>
              <a:t>15. Haftanın tek görseli: Ders özeti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32104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F6976"/>
                </a:solidFill>
                <a:latin typeface="Aptos"/>
              </a:defRPr>
            </a:pPr>
            <a:r>
              <a:t>Ders boyunca kullandığımız bütüncül infografik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43000"/>
            <a:ext cx="11155680" cy="45720"/>
          </a:xfrm>
          <a:prstGeom prst="rect">
            <a:avLst/>
          </a:prstGeom>
          <a:solidFill>
            <a:srgbClr val="24A4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4A4BE"/>
                </a:solidFill>
              </a:defRPr>
            </a:pPr>
            <a:r>
              <a:t>DERSİN ANA FİKRİ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Bilişim teknolojileri, bilgiyi işlemek, saklamak,</a:t>
            </a:r>
            <a:br/>
            <a:r>
              <a:t>iletmek ve kullanmak için kullandığımız araç ve sistemlerdir.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51960"/>
            <a:ext cx="96012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DCEBFA"/>
                </a:solidFill>
              </a:defRPr>
            </a:pPr>
            <a:r>
              <a:t>Teknolojiyi tanı → geçmişle karşılaştır → kullanım alanını belirle → bilinçli kullan.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5669280"/>
            <a:ext cx="4846320" cy="384048"/>
          </a:xfrm>
          <a:prstGeom prst="roundRect">
            <a:avLst/>
          </a:prstGeom>
          <a:solidFill>
            <a:srgbClr val="653F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Hazırsan bir sonraki ders: Dijital Sanatlara Giriş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5F6976"/>
                </a:solidFill>
                <a:latin typeface="Aptos"/>
              </a:defRPr>
            </a:pPr>
            <a:r>
              <a:t>BTY.5.1.1  •  5. Sınıf Bilişim Teknolojileri ve Yazılım     |   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