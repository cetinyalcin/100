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3017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YZU.1.1</a:t>
            </a:r>
          </a:p>
          <a:p>
            <a:pPr>
              <a:spcBef>
                <a:spcPts val="1500"/>
              </a:spcBef>
              <a:defRPr sz="3100" b="1">
                <a:solidFill>
                  <a:srgbClr val="FFFFFF"/>
                </a:solidFill>
              </a:defRPr>
            </a:pPr>
            <a:r>
              <a:t>YAPAY ZEKÂYA</a:t>
            </a:r>
            <a:br/>
            <a:r>
              <a:t>GİRİŞ</a:t>
            </a:r>
          </a:p>
          <a:p>
            <a:pPr>
              <a:spcBef>
                <a:spcPts val="2200"/>
              </a:spcBef>
              <a:defRPr sz="1400">
                <a:solidFill>
                  <a:srgbClr val="DCEBFA"/>
                </a:solidFill>
              </a:defRPr>
            </a:pPr>
            <a:r>
              <a:t>Kazanım: YZU.1.1.1.1</a:t>
            </a:r>
            <a:br/>
            <a:r>
              <a:t>Yapay zekânın tanımını yapar.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9601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0" y="960120"/>
            <a:ext cx="73152" cy="132588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069848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841A6"/>
                </a:solidFill>
                <a:latin typeface="Aptos Display"/>
              </a:defRPr>
            </a:pPr>
            <a:r>
              <a:t>🧠  YAPAY ZEKÂ NEDİR?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Makinelerin algılama, öğrenme, akıl yürütme ve problem çözme gibi görevleri gerçekleştirmesini sağlayan yöntemler ve sistemler.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9601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960120"/>
            <a:ext cx="73152" cy="132588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1069848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A64B4"/>
                </a:solidFill>
                <a:latin typeface="Aptos Display"/>
              </a:defRPr>
            </a:pPr>
            <a:r>
              <a:t>🌐  NERELERDE?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Telefonlar • arama motorları • öneri sistemleri • sağlık • ulaşım • eğitim • üretim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60604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606040"/>
            <a:ext cx="73152" cy="132588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715768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9DBE"/>
                </a:solidFill>
                <a:latin typeface="Aptos Display"/>
              </a:defRPr>
            </a:pPr>
            <a:r>
              <a:t>⚙️  NASIL ÇALIŞIR?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Veri → algoritma/model → öğrenme/çıkarım → çıktı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60604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606040"/>
            <a:ext cx="73152" cy="132588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715768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802A"/>
                </a:solidFill>
                <a:latin typeface="Aptos Display"/>
              </a:defRPr>
            </a:pPr>
            <a:r>
              <a:t>⏳  TARİHÇE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Alan Turing → 1956 Dartmouth → makine öğrenmesi → derin öğrenme → üretken YZ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51960"/>
            <a:ext cx="6949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4251960"/>
            <a:ext cx="73152" cy="132588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361688"/>
            <a:ext cx="65836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855E"/>
                </a:solidFill>
                <a:latin typeface="Aptos Display"/>
              </a:defRPr>
            </a:pPr>
            <a:r>
              <a:t>❓  BUGÜNÜN SORUSU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“Yapay zekâ gerçekten düşünüyor mu, yoksa verilerden örüntüler öğrenerek görevleri mi gerçekleştiriyor?”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Dersin hedefleri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8. sınıf düzeyinde kavramı doğru tanımlamak ve günlük örneklerle ilişkilendirmek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356616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18488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A64B4"/>
                </a:solidFill>
                <a:latin typeface="Aptos Display"/>
              </a:defRPr>
            </a:pPr>
            <a:r>
              <a:t>🎯  1 • TANIMLA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Yapay zekâyı kendi cümlelerinle tanımlayabil.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İnsan zekâsıyla benzer görevleri gerçekleştiren bilgisayar sistemleri fikrini kavra.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356616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18488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841A6"/>
                </a:solidFill>
                <a:latin typeface="Aptos Display"/>
              </a:defRPr>
            </a:pPr>
            <a:r>
              <a:t>🔎  2 • AYIRT ET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YZ, otomasyon, geleneksel program ve insan zekâsı arasındaki temel farkları tartışabil.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“Her otomatik sistem YZ midir?” sorusunu değerlendirebil.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08760"/>
            <a:ext cx="73152" cy="356616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618488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855E"/>
                </a:solidFill>
                <a:latin typeface="Aptos Display"/>
              </a:defRPr>
            </a:pPr>
            <a:r>
              <a:t>🧩  3 • İLİŞKİLENDİR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YZ'nin tarihindeki önemli dönüm noktalarını ve öncü isimleri tanıyabil.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Günlük hayattan YZ örneklerini açıklayabil.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532120"/>
            <a:ext cx="7589520" cy="393192"/>
          </a:xfrm>
          <a:prstGeom prst="round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Dersin ana hedefi: “Yapay zekâ” kavramını doğru ve bilinçli kullanmak.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1. Isınma: Bunların hangisinde yapay zekâ olabilir?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Cevap vermeden önce “sistem ne yapıyor?” diye düşün.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55448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2704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64B4"/>
                </a:solidFill>
                <a:latin typeface="Aptos Display"/>
              </a:defRPr>
            </a:pPr>
            <a:r>
              <a:t>📱  Telefon yüz tanıma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Görüntüden örüntü çıkarır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55448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2704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841A6"/>
                </a:solidFill>
                <a:latin typeface="Aptos Display"/>
              </a:defRPr>
            </a:pPr>
            <a:r>
              <a:t>🎬  Film önerisi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İlgi alanlarına göre öneri üretir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417320"/>
            <a:ext cx="73152" cy="155448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52704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02A"/>
                </a:solidFill>
                <a:latin typeface="Aptos Display"/>
              </a:defRPr>
            </a:pPr>
            <a:r>
              <a:t>🗺️  Navigasyon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Rota ve trafik verilerini değerlendirir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832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383280"/>
            <a:ext cx="73152" cy="155448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49300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55E"/>
                </a:solidFill>
                <a:latin typeface="Aptos Display"/>
              </a:defRPr>
            </a:pPr>
            <a:r>
              <a:t>🧹  Robot süpürge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Bazı modeller ortamı algılar ve rota planlar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3832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383280"/>
            <a:ext cx="73152" cy="155448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49300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9DBE"/>
                </a:solidFill>
                <a:latin typeface="Aptos Display"/>
              </a:defRPr>
            </a:pPr>
            <a:r>
              <a:t>🛒  Ürün önerisi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Geçmiş davranışlardan tahmin yapabilir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3832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3383280"/>
            <a:ext cx="73152" cy="155448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49300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E46"/>
                </a:solidFill>
                <a:latin typeface="Aptos Display"/>
              </a:defRPr>
            </a:pPr>
            <a:r>
              <a:t>⌨️  Basit hesap makinesi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Kuralı doğrudan uygular; tek başına YZ olmak zorunda değildir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5623560"/>
            <a:ext cx="7132320" cy="393192"/>
          </a:xfrm>
          <a:prstGeom prst="round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Tartışma: Bir sistemin YZ olup olmadığını nasıl anlayabiliriz?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2. Yapay zekâ nedir?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Tanımı ezberlemek yerine parçalarını anlayalım.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41732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27048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841A6"/>
                </a:solidFill>
                <a:latin typeface="Aptos Display"/>
              </a:defRPr>
            </a:pPr>
            <a:r>
              <a:t>🧠  YAPAY ZEKÂ (YZ)</a:t>
            </a:r>
          </a:p>
          <a:p>
            <a:pPr>
              <a:spcAft>
                <a:spcPts val="400"/>
              </a:spcAft>
              <a:defRPr sz="1400">
                <a:solidFill>
                  <a:srgbClr val="242B37"/>
                </a:solidFill>
                <a:latin typeface="Aptos"/>
              </a:defRPr>
            </a:pPr>
            <a:r>
              <a:t>Bilgisayar sistemlerinin; algılama, öğrenme, akıl yürütme, problem çözme, dil anlama veya karar verme gibi insan zekâsıyla ilişkilendirilen görevleri gerçekleştirmesini sağlayan yöntemler ve teknolojiler bütünüdür.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5468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154680"/>
            <a:ext cx="73152" cy="196596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264408"/>
            <a:ext cx="2148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64B4"/>
                </a:solidFill>
                <a:latin typeface="Aptos Display"/>
              </a:defRPr>
            </a:pPr>
            <a:r>
              <a:t>📥  GİRDİ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Veri, görüntü, ses, metin veya sensör bilgisi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15468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3154680"/>
            <a:ext cx="73152" cy="196596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3264408"/>
            <a:ext cx="2148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9DBE"/>
                </a:solidFill>
                <a:latin typeface="Aptos Display"/>
              </a:defRPr>
            </a:pPr>
            <a:r>
              <a:t>⚙️  İŞLEME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Algoritmalar ve modeller örüntüleri analiz eder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15468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154680"/>
            <a:ext cx="73152" cy="196596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3264408"/>
            <a:ext cx="2148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55E"/>
                </a:solidFill>
                <a:latin typeface="Aptos Display"/>
              </a:defRPr>
            </a:pPr>
            <a:r>
              <a:t>📤  ÇIKTI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Tahmin, sınıflandırma, öneri, metin veya karar desteği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15468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3154680"/>
            <a:ext cx="73152" cy="196596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3264408"/>
            <a:ext cx="2148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02A"/>
                </a:solidFill>
                <a:latin typeface="Aptos Display"/>
              </a:defRPr>
            </a:pPr>
            <a:r>
              <a:t>🔄  GERİ BİLDİRİM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Sonuçlar değerlendirilerek sistem geliştirilebilir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5623560"/>
            <a:ext cx="6583680" cy="393192"/>
          </a:xfrm>
          <a:prstGeom prst="round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Kısa formül: Veri + Algoritma/Model → Çıktı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3. İnsan zekâsı ve yapay zekâ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Benzer görevler yapılabilir; ancak yeteneklerin kaynağı ve çalışma biçimi aynı değildir.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425196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81328"/>
            <a:ext cx="4937759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A64B4"/>
                </a:solidFill>
                <a:latin typeface="Aptos Display"/>
              </a:defRPr>
            </a:pPr>
            <a:r>
              <a:t>👤  İNSAN ZEKÂSI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Biyolojik sinir sistemiyle çalışır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Duyular ve yaşantılarla öğrenir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Bağlamı ve duyguları değerlendirebilir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Genelleme ve yaratıcılık gösterebilir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Değerler ve amaçlar oluşturabilir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Fiziksel dünyayla doğrudan etkileşir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73152" cy="425196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81328"/>
            <a:ext cx="4937759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841A6"/>
                </a:solidFill>
                <a:latin typeface="Aptos Display"/>
              </a:defRPr>
            </a:pPr>
            <a:r>
              <a:t>🤖  YAPAY ZEKÂ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Bilgisayar sistemleri üzerinde çalışır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Veri ve algoritmalarla eğitilebilir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Belirli görevlerde çok güçlü olabilir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Büyük miktarda veriyi hızlı işleyebilir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Sonuçları olasılık ve örüntülere dayandırabilir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İnsan tarafından tasarlanır ve yönlendirilir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897880"/>
            <a:ext cx="8503920" cy="393192"/>
          </a:xfrm>
          <a:prstGeom prst="round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Önemli: “İnsan gibi çalışıyor” demek “insan gibi düşünüyor” demek değildir.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4. Geleneksel programlama ile yapay zekâ arasındaki fark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594360"/>
          </a:xfrm>
          <a:prstGeom prst="round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Geleneksel programlama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349240" cy="594360"/>
          </a:xfrm>
          <a:prstGeom prst="round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Yapay zekâ / makine öğrenmesi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3492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73152" cy="338328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304288"/>
            <a:ext cx="49834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A64B4"/>
                </a:solidFill>
                <a:latin typeface="Aptos Display"/>
              </a:defRPr>
            </a:pPr>
            <a:r>
              <a:t>📜  MANTIK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Kurallar çoğunlukla programcı tarafından açıkça yazılır.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Örnek: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Eğer sıcaklık &lt; 0 ise “donma” yaz.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Vergiyi belirlenen formülle hesapla.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Girdi → Kurallar → Çıktı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53492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194560"/>
            <a:ext cx="73152" cy="338328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304288"/>
            <a:ext cx="49834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841A6"/>
                </a:solidFill>
                <a:latin typeface="Aptos Display"/>
              </a:defRPr>
            </a:pPr>
            <a:r>
              <a:t>🧠  ÖĞRENME / ÇIKARIM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Model, verilerdeki örüntülerden ilişki öğrenebilir.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Örnek: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Çok sayıda görüntüden kedi/köpek ayrımı öğrenmek.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• Geçmiş davranışlardan öneri üretmek.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Veri → Model → Tahmin/Çıktı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5897880"/>
            <a:ext cx="7040880" cy="393192"/>
          </a:xfrm>
          <a:prstGeom prst="round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Not: Gerçek sistemlerde iki yaklaşım birlikte de kullanılabilir.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5. Yapay zekânın gerçekleştirebildiği temel görevler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69164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64B4"/>
                </a:solidFill>
                <a:latin typeface="Aptos Display"/>
              </a:defRPr>
            </a:pPr>
            <a:r>
              <a:t>👁️  ALGILAMA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Görüntü, ses veya sensör verisini yorumlama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73152" cy="169164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4813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855E"/>
                </a:solidFill>
                <a:latin typeface="Aptos Display"/>
              </a:defRPr>
            </a:pPr>
            <a:r>
              <a:t>🗂️  SINIFLANDIRMA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Veriyi kategorilere ayırma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169164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813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841A6"/>
                </a:solidFill>
                <a:latin typeface="Aptos Display"/>
              </a:defRPr>
            </a:pPr>
            <a:r>
              <a:t>📈  TAHMİN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Gelecekteki veya bilinmeyen bir sonucu tahmin etme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3716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1371600"/>
            <a:ext cx="73152" cy="169164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4813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9DBE"/>
                </a:solidFill>
                <a:latin typeface="Aptos Display"/>
              </a:defRPr>
            </a:pPr>
            <a:r>
              <a:t>💬  DİL İŞLEME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Metni anlama, üretme veya dönüştürme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73152" cy="169164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58444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802A"/>
                </a:solidFill>
                <a:latin typeface="Aptos Display"/>
              </a:defRPr>
            </a:pPr>
            <a:r>
              <a:t>⭐  ÖNERİ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Kullanıcıya uygun içerik/ürün önermeye çalışma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4747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3474720"/>
            <a:ext cx="73152" cy="169164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358444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E46"/>
                </a:solidFill>
                <a:latin typeface="Aptos Display"/>
              </a:defRPr>
            </a:pPr>
            <a:r>
              <a:t>⚖️  KARAR DESTEĞİ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Veriye dayanarak seçenekleri değerlendirmeye yardımcı olma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4747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474720"/>
            <a:ext cx="73152" cy="169164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58444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34A"/>
                </a:solidFill>
                <a:latin typeface="Aptos Display"/>
              </a:defRPr>
            </a:pPr>
            <a:r>
              <a:t>✨  ÜRETİM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Metin, görsel, ses veya kod oluşturma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4747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3474720"/>
            <a:ext cx="73152" cy="1691640"/>
          </a:xfrm>
          <a:prstGeom prst="rect">
            <a:avLst/>
          </a:prstGeom>
          <a:solidFill>
            <a:srgbClr val="CDA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358444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DA12D"/>
                </a:solidFill>
                <a:latin typeface="Aptos Display"/>
              </a:defRPr>
            </a:pPr>
            <a:r>
              <a:t>🤖  ROBOTİK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Algılama ve kontrolü fiziksel sistemlerle birleştirme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0" y="5760720"/>
            <a:ext cx="7040880" cy="393192"/>
          </a:xfrm>
          <a:prstGeom prst="round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Bir YZ sistemi bunların birini veya birkaçını birlikte yapabilir.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6. Yapay zekânın kısa tarihi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Bugünkü YZ bir anda ortaya çıkmadı; onlarca yıllık araştırmanın sonucudur.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32588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25880"/>
            <a:ext cx="73152" cy="178308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35607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34A"/>
                </a:solidFill>
                <a:latin typeface="Aptos Display"/>
              </a:defRPr>
            </a:pPr>
            <a:r>
              <a:t>●  1940–50’ler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Temeller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Alan Turing: makinelerin zekâ davranışları üzerine düşünceler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2588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25880"/>
            <a:ext cx="73152" cy="178308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435607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64B4"/>
                </a:solidFill>
                <a:latin typeface="Aptos Display"/>
              </a:defRPr>
            </a:pPr>
            <a:r>
              <a:t>●  1950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Turing Testi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“Makineler düşünebilir mi?” sorusunu somutlaştırdı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73152" cy="178308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35607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841A6"/>
                </a:solidFill>
                <a:latin typeface="Aptos Display"/>
              </a:defRPr>
            </a:pPr>
            <a:r>
              <a:t>●  1956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Dartmouth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“Artificial Intelligence” terimi araştırma alanının adı olarak kullanıldı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132588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07424" y="1325880"/>
            <a:ext cx="73152" cy="178308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435607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802A"/>
                </a:solidFill>
                <a:latin typeface="Aptos Display"/>
              </a:defRPr>
            </a:pPr>
            <a:r>
              <a:t>●  1960–70’ler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Erken YZ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Problem çözme, oyunlar ve uzman sistemler üzerine çalışmalar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7472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474720"/>
            <a:ext cx="73152" cy="178308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358444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E46"/>
                </a:solidFill>
                <a:latin typeface="Aptos Display"/>
              </a:defRPr>
            </a:pPr>
            <a:r>
              <a:t>●  1980–90’lar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Uzman sistemler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Belirli alanlarda bilgi ve kurallara dayalı sistemler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47472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3474720"/>
            <a:ext cx="73152" cy="178308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358444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9DBE"/>
                </a:solidFill>
                <a:latin typeface="Aptos Display"/>
              </a:defRPr>
            </a:pPr>
            <a:r>
              <a:t>●  1990–2010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Makine öğrenmesi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Veriden öğrenen yöntemler yaygınlaştı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47472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3474720"/>
            <a:ext cx="73152" cy="178308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8444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855E"/>
                </a:solidFill>
                <a:latin typeface="Aptos Display"/>
              </a:defRPr>
            </a:pPr>
            <a:r>
              <a:t>●  2010+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Derin öğrenme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Büyük veri + güçlü hesaplama + sinir ağları büyük sıçrama sağladı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7424" y="347472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07424" y="3474720"/>
            <a:ext cx="73152" cy="1783080"/>
          </a:xfrm>
          <a:prstGeom prst="rect">
            <a:avLst/>
          </a:prstGeom>
          <a:solidFill>
            <a:srgbClr val="CDA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358444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DA12D"/>
                </a:solidFill>
                <a:latin typeface="Aptos Display"/>
              </a:defRPr>
            </a:pPr>
            <a:r>
              <a:t>●  2020+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Üretken YZ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Metin, görsel, ses ve kod üreten modeller yaygınlaştı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7. Yapay zekânın öncüleri ve kahramanları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Bilim insanlarının katkıları farklı dönemlerde bugünkü alanın oluşmasına yardım etti.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37160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371600"/>
            <a:ext cx="73152" cy="178308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64B4"/>
                </a:solidFill>
                <a:latin typeface="Aptos Display"/>
              </a:defRPr>
            </a:pPr>
            <a:r>
              <a:t>👤  Alan Turing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1912–1954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Hesaplama kuramı ve makine zekâsı tartışmaları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37160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6704" y="1371600"/>
            <a:ext cx="73152" cy="178308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48132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841A6"/>
                </a:solidFill>
                <a:latin typeface="Aptos Display"/>
              </a:defRPr>
            </a:pPr>
            <a:r>
              <a:t>👤  John McCarthy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1927–2011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“Artificial Intelligence” terimini 1956 Dartmouth çalıştayında kullandı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37160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371600"/>
            <a:ext cx="73152" cy="178308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48132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855E"/>
                </a:solidFill>
                <a:latin typeface="Aptos Display"/>
              </a:defRPr>
            </a:pPr>
            <a:r>
              <a:t>👤  Marvin Minsky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1927–2016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Yapay zekâ araştırmalarının önemli öncülerinden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137160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62288" y="1371600"/>
            <a:ext cx="73152" cy="178308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456" y="148132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802A"/>
                </a:solidFill>
                <a:latin typeface="Aptos Display"/>
              </a:defRPr>
            </a:pPr>
            <a:r>
              <a:t>👤  Allen Newell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1927–1992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İnsan problem çözmesini modelleyen erken YZ programları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352044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3520440"/>
            <a:ext cx="73152" cy="178308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3016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E46"/>
                </a:solidFill>
                <a:latin typeface="Aptos Display"/>
              </a:defRPr>
            </a:pPr>
            <a:r>
              <a:t>👤  Herbert Simon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1916–2001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Problem çözme, karar verme ve uzman sistemler üzerine çalışmalar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6704" y="352044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3520440"/>
            <a:ext cx="73152" cy="178308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7872" y="363016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9DBE"/>
                </a:solidFill>
                <a:latin typeface="Aptos Display"/>
              </a:defRPr>
            </a:pPr>
            <a:r>
              <a:t>👤  Geoffrey Hinton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1947–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Yapay sinir ağları ve derin öğrenmenin gelişiminde önemli katkılar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352044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3520440"/>
            <a:ext cx="73152" cy="178308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363016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34A"/>
                </a:solidFill>
                <a:latin typeface="Aptos Display"/>
              </a:defRPr>
            </a:pPr>
            <a:r>
              <a:t>👤  Yann LeCun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1960–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Evrişimli sinir ağlarının görüntü tanımadaki kullanımında öncü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62288" y="352044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62288" y="3520440"/>
            <a:ext cx="73152" cy="1783080"/>
          </a:xfrm>
          <a:prstGeom prst="rect">
            <a:avLst/>
          </a:prstGeom>
          <a:solidFill>
            <a:srgbClr val="CDA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3630168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DA12D"/>
                </a:solidFill>
                <a:latin typeface="Aptos Display"/>
              </a:defRPr>
            </a:pPr>
            <a:r>
              <a:t>👤  Fei-Fei Li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1976–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ImageNet ve insan odaklı YZ araştırmalarıyla önemli katkılar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20" y="5806440"/>
            <a:ext cx="7498079" cy="393192"/>
          </a:xfrm>
          <a:prstGeom prst="round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Kahramanların ortak noktası: “Makineler hangi görevleri zekice gerçekleştirebilir?” sorusunu araştırmaları.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8. Makine öğrenmesi: Yapay zekânın önemli yaklaşımı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Programcı her kuralı tek tek yazmak yerine model veriden örüntüler öğrenebilir.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73152" cy="347472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18488"/>
            <a:ext cx="21488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64B4"/>
                </a:solidFill>
                <a:latin typeface="Aptos Display"/>
              </a:defRPr>
            </a:pPr>
            <a:r>
              <a:t>→  1 • VERİ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Örnekler toplanır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Kedi/köpek fotoğrafları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087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508760"/>
            <a:ext cx="73152" cy="347472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618488"/>
            <a:ext cx="21488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841A6"/>
                </a:solidFill>
                <a:latin typeface="Aptos Display"/>
              </a:defRPr>
            </a:pPr>
            <a:r>
              <a:t>→  2 • EĞİTİM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Model örüntüleri öğrenir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Kulak, şekil, renk vb. özelliklerden ilişkiler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73152" cy="347472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618488"/>
            <a:ext cx="21488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02A"/>
                </a:solidFill>
                <a:latin typeface="Aptos Display"/>
              </a:defRPr>
            </a:pPr>
            <a:r>
              <a:t>→  3 • TEST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Model yeni verilerle denenir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Daha önce görmediği görüntüler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5087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508760"/>
            <a:ext cx="73152" cy="347472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1618488"/>
            <a:ext cx="21488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55E"/>
                </a:solidFill>
                <a:latin typeface="Aptos Display"/>
              </a:defRPr>
            </a:pPr>
            <a:r>
              <a:t>→  4 • TAHMİN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Yeni girdiye çıktı üretir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“Bu görüntü %… kedi olabilir.”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349240"/>
            <a:ext cx="6675120" cy="393192"/>
          </a:xfrm>
          <a:prstGeom prst="round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Önemli: Eğitim verisinin kalitesi, modelin başarısını güçlü biçimde etkileyebilir.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580644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0" y="5806440"/>
            <a:ext cx="73152" cy="50292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59161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34A"/>
                </a:solidFill>
                <a:latin typeface="Aptos Display"/>
              </a:defRPr>
            </a:pPr>
            <a:r>
              <a:t>🧠  Basit fikir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Veri → öğrenme → model → yeni veride tahmin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9. Derin öğrenme ve sinir ağları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Büyük veri ve güçlü hesaplama, yapay zekânın birçok alanda sıçrama yapmasını sağladı.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16052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27048"/>
            <a:ext cx="30175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A64B4"/>
                </a:solidFill>
                <a:latin typeface="Aptos Display"/>
              </a:defRPr>
            </a:pPr>
            <a:r>
              <a:t>🕸️  YAPAY SİNİR AĞI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Birçok küçük hesaplama birimini katmanlar hâlinde birleştirir.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Girdi katmanı → ara katmanlar → çıktı katmanı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Örneğin görüntü tanımada basit örüntülerden daha karmaşık özelliklere doğru öğrenme gerçekleşebilir.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416052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27048"/>
            <a:ext cx="30175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841A6"/>
                </a:solidFill>
                <a:latin typeface="Aptos Display"/>
              </a:defRPr>
            </a:pPr>
            <a:r>
              <a:t>🧠  DERİN ÖĞRENME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Çok sayıda katman içeren sinir ağı tabanlı yöntemlerdir.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Görüntü, konuşma, metin ve diğer karmaşık verilerde güçlü sonuçlar verebilir.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73152" cy="416052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527048"/>
            <a:ext cx="30175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855E"/>
                </a:solidFill>
                <a:latin typeface="Aptos Display"/>
              </a:defRPr>
            </a:pPr>
            <a:r>
              <a:t>🚀  NEDEN ÖNEMLİ?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• Büyük veri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• GPU/TPU gibi hesaplama gücü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• Gelişmiş algoritmalar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• Daha büyük modeller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Bu birleşim günümüz YZ'sinin önemli temelini oluşturur.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806440"/>
            <a:ext cx="6675120" cy="393192"/>
          </a:xfrm>
          <a:prstGeom prst="round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Makine öğrenmesi ⊃ Derin öğrenme: Derin öğrenme, makine öğrenmesinin bir alt alanıdır.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10. Üretken yapay zekâ (Generative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Yeni içerik üretmeye odaklanan yapay zekâ sistemleri.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160020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8132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64B4"/>
                </a:solidFill>
                <a:latin typeface="Aptos Display"/>
              </a:defRPr>
            </a:pPr>
            <a:r>
              <a:t>📝  METİN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Sorulara cevap, özet, hikâye, taslak veya kod üretebilir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60020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8132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841A6"/>
                </a:solidFill>
                <a:latin typeface="Aptos Display"/>
              </a:defRPr>
            </a:pPr>
            <a:r>
              <a:t>🎨  GÖRSEL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Metin açıklamasından görsel oluşturabilir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371600"/>
            <a:ext cx="73152" cy="160020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48132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9DBE"/>
                </a:solidFill>
                <a:latin typeface="Aptos Display"/>
              </a:defRPr>
            </a:pPr>
            <a:r>
              <a:t>🎧  SES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Konuşma veya müzik benzeri ses içerikleri üretebilir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37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337560"/>
            <a:ext cx="73152" cy="160020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44728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E46"/>
                </a:solidFill>
                <a:latin typeface="Aptos Display"/>
              </a:defRPr>
            </a:pPr>
            <a:r>
              <a:t>🎬  VİDEO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Sahne ve hareket içeren içerikler üretebilir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337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337560"/>
            <a:ext cx="73152" cy="160020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44728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855E"/>
                </a:solidFill>
                <a:latin typeface="Aptos Display"/>
              </a:defRPr>
            </a:pPr>
            <a:r>
              <a:t>💻  KOD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Programlama kodu yazmaya ve açıklamaya yardımcı olabilir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337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3337560"/>
            <a:ext cx="73152" cy="160020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44728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02A"/>
                </a:solidFill>
                <a:latin typeface="Aptos Display"/>
              </a:defRPr>
            </a:pPr>
            <a:r>
              <a:t>🔗  ÇOKLU MODAL</a:t>
            </a:r>
          </a:p>
          <a:p>
            <a:pPr>
              <a:spcAft>
                <a:spcPts val="400"/>
              </a:spcAft>
              <a:defRPr sz="1100">
                <a:solidFill>
                  <a:srgbClr val="242B37"/>
                </a:solidFill>
                <a:latin typeface="Aptos"/>
              </a:defRPr>
            </a:pPr>
            <a:r>
              <a:t>Metin, görsel, ses gibi farklı veri türleriyle çalışabilir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5623560"/>
            <a:ext cx="8229600" cy="393192"/>
          </a:xfrm>
          <a:prstGeom prst="round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Dikkat: Üretilen içerik doğru olmayabilir; kaynak kontrolü ve insan denetimi önemlidir.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11. Günlük hayatımızda yapay zekâ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69164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64B4"/>
                </a:solidFill>
                <a:latin typeface="Aptos Display"/>
              </a:defRPr>
            </a:pPr>
            <a:r>
              <a:t>📱  AKILLI TELEFON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Sesli asistan • yüz tanıma • kamera iyileştirme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73152" cy="169164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4813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841A6"/>
                </a:solidFill>
                <a:latin typeface="Aptos Display"/>
              </a:defRPr>
            </a:pPr>
            <a:r>
              <a:t>🔎  ARAMA MOTORLARI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Arama sonuçlarını sıralama • spam/zararlı içerik tespiti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169164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813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9DBE"/>
                </a:solidFill>
                <a:latin typeface="Aptos Display"/>
              </a:defRPr>
            </a:pPr>
            <a:r>
              <a:t>💬  SOSYAL MEDYA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İçerik önerileri • filtreleme • kişiselleştirme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3716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1371600"/>
            <a:ext cx="73152" cy="169164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4813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855E"/>
                </a:solidFill>
                <a:latin typeface="Aptos Display"/>
              </a:defRPr>
            </a:pPr>
            <a:r>
              <a:t>🛒  E-TİCARET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Ürün önerileri • arama • dolandırıcılık tespiti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73152" cy="169164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5387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802A"/>
                </a:solidFill>
                <a:latin typeface="Aptos Display"/>
              </a:defRPr>
            </a:pPr>
            <a:r>
              <a:t>🚗  ULAŞIM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Rota • trafik tahmini • sürüş destek sistemleri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3429000"/>
            <a:ext cx="73152" cy="169164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35387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E46"/>
                </a:solidFill>
                <a:latin typeface="Aptos Display"/>
              </a:defRPr>
            </a:pPr>
            <a:r>
              <a:t>🏥  SAĞLIK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Görüntü analizi • karar desteği • araştırma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429000"/>
            <a:ext cx="73152" cy="169164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5387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34A"/>
                </a:solidFill>
                <a:latin typeface="Aptos Display"/>
              </a:defRPr>
            </a:pPr>
            <a:r>
              <a:t>🎓  EĞİTİM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Kişiselleştirilmiş alıştırmalar • içerik desteği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3429000"/>
            <a:ext cx="73152" cy="1691640"/>
          </a:xfrm>
          <a:prstGeom prst="rect">
            <a:avLst/>
          </a:prstGeom>
          <a:solidFill>
            <a:srgbClr val="CDA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3538728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DA12D"/>
                </a:solidFill>
                <a:latin typeface="Aptos Display"/>
              </a:defRPr>
            </a:pPr>
            <a:r>
              <a:t>🎮  EĞLENCE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Film/müzik önerileri • oyunlarda akıllı davranışlar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12. Yapay zekânın güçlü yönleri ve sınırları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YZ'yi doğru değerlendirmek için hem fırsatları hem de riskleri görmek gerekir.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29768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27048"/>
            <a:ext cx="49377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855E"/>
                </a:solidFill>
                <a:latin typeface="Aptos Display"/>
              </a:defRPr>
            </a:pPr>
            <a:r>
              <a:t>✓  GÜÇLÜ YÖNLER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✓ Büyük miktarda veriyi hızlı işleyebilir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✓ Tekrarlı görevleri otomatikleştirebilir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✓ Örüntüleri tespit etmeye yardımcı olabilir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✓ 7/24 çalışabilen sistemler kurulabilir</a:t>
            </a:r>
          </a:p>
          <a:p>
            <a:pPr>
              <a:spcAft>
                <a:spcPts val="400"/>
              </a:spcAft>
              <a:defRPr sz="1300">
                <a:solidFill>
                  <a:srgbClr val="242B37"/>
                </a:solidFill>
                <a:latin typeface="Aptos"/>
              </a:defRPr>
            </a:pPr>
            <a:r>
              <a:t>✓ Kişiselleştirme ve karar desteği sağlayabilir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29768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27048"/>
            <a:ext cx="49377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3E46"/>
                </a:solidFill>
                <a:latin typeface="Aptos Display"/>
              </a:defRPr>
            </a:pPr>
            <a:r>
              <a:t>!  SINIRLAR / RİSKLER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! Hatalı veya yanlı veri hatalı sonuçlara yol açabilir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! Model yanlış bilgi üretebilir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! Gizlilik ve kişisel veri sorunları oluşabilir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! Sonuçların nasıl üretildiği her zaman kolay açıklanmayabilir</a:t>
            </a:r>
          </a:p>
          <a:p>
            <a:pPr>
              <a:spcAft>
                <a:spcPts val="400"/>
              </a:spcAft>
              <a:defRPr sz="1200">
                <a:solidFill>
                  <a:srgbClr val="242B37"/>
                </a:solidFill>
                <a:latin typeface="Aptos"/>
              </a:defRPr>
            </a:pPr>
            <a:r>
              <a:t>! İnsan denetimi ve eleştirel düşünme gereklidir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5897880"/>
            <a:ext cx="8046720" cy="393192"/>
          </a:xfrm>
          <a:prstGeom prst="round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Ana ilke: “YZ söyledi” bir doğruluk garantisi değildir.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13. Bilinçli yapay zekâ kullanıcısı nasıl olunur?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14300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8132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64B4"/>
                </a:solidFill>
                <a:latin typeface="Aptos Display"/>
              </a:defRPr>
            </a:pPr>
            <a:r>
              <a:t>✓  KAYNAĞI KONTROL ET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Önemli bilgileri güvenilir kaynaklardan doğrula.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73152" cy="114300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48132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E46"/>
                </a:solidFill>
                <a:latin typeface="Aptos Display"/>
              </a:defRPr>
            </a:pPr>
            <a:r>
              <a:t>✓  KİŞİSEL VERİYİ KORU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Gereksiz kişisel bilgi, fotoğraf veya belge paylaşma.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73152" cy="114300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89864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841A6"/>
                </a:solidFill>
                <a:latin typeface="Aptos Display"/>
              </a:defRPr>
            </a:pPr>
            <a:r>
              <a:t>✓  YANLILIĞI SORGULA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Veri ve modelin taraflı sonuç üretebileceğini unutma.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8892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788920"/>
            <a:ext cx="73152" cy="114300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89864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802A"/>
                </a:solidFill>
                <a:latin typeface="Aptos Display"/>
              </a:defRPr>
            </a:pPr>
            <a:r>
              <a:t>✓  TELİF / EMEK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Başkasının eserini izinsiz kullanma; üretimlerin kaynağını belirt.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73152" cy="114300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31596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855E"/>
                </a:solidFill>
                <a:latin typeface="Aptos Display"/>
              </a:defRPr>
            </a:pPr>
            <a:r>
              <a:t>✓  İNSAN DENETİMİ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Özellikle önemli kararlarda insan değerlendirmesini koru.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062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06240"/>
            <a:ext cx="73152" cy="114300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31596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34A"/>
                </a:solidFill>
                <a:latin typeface="Aptos Display"/>
              </a:defRPr>
            </a:pPr>
            <a:r>
              <a:t>✓  ŞEFFAFLIK</a:t>
            </a:r>
          </a:p>
          <a:p>
            <a:pPr>
              <a:spcAft>
                <a:spcPts val="400"/>
              </a:spcAft>
              <a:defRPr sz="1000">
                <a:solidFill>
                  <a:srgbClr val="242B37"/>
                </a:solidFill>
                <a:latin typeface="Aptos"/>
              </a:defRPr>
            </a:pPr>
            <a:r>
              <a:t>Bir içeriğin YZ ile üretildiği durumlarda bunu uygun şekilde belirt.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14. Sınıf etkinliği: YZ dedektifi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Her örnekte şu üç soruyu sor: “Ne yapıyor? Hangi veriyi kullanıyor? Neden YZ olabilir?”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1600200"/>
          </a:xfrm>
          <a:prstGeom prst="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841A6"/>
                </a:solidFill>
                <a:latin typeface="Aptos Display"/>
              </a:defRPr>
            </a:pPr>
            <a:r>
              <a:t>?  Film önerisi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Geçmiş izleme davranışından öneri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Cevap: Öneri / tahmin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160020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8132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64B4"/>
                </a:solidFill>
                <a:latin typeface="Aptos Display"/>
              </a:defRPr>
            </a:pPr>
            <a:r>
              <a:t>?  Yüz tanıma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Görüntüden yüz özelliklerini analiz eder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Cevap: Algılama / sınıflandırma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73152" cy="160020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48132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855E"/>
                </a:solidFill>
                <a:latin typeface="Aptos Display"/>
              </a:defRPr>
            </a:pPr>
            <a:r>
              <a:t>?  Spam filtresi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E-postaları örüntülere göre ayırır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Cevap: Sınıflandırma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73152" cy="1600200"/>
          </a:xfrm>
          <a:prstGeom prst="rect">
            <a:avLst/>
          </a:prstGeom>
          <a:solidFill>
            <a:srgbClr val="E0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4728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802A"/>
                </a:solidFill>
                <a:latin typeface="Aptos Display"/>
              </a:defRPr>
            </a:pPr>
            <a:r>
              <a:t>?  Navigasyon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Harita ve trafik verilerini kullanır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Cevap: Tahmin / optimizasyon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337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337560"/>
            <a:ext cx="73152" cy="160020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44728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9DBE"/>
                </a:solidFill>
                <a:latin typeface="Aptos Display"/>
              </a:defRPr>
            </a:pPr>
            <a:r>
              <a:t>?  Metin üretici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Girdi talimatından yeni metin oluşturur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Cevap: Üretken YZ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37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337560"/>
            <a:ext cx="73152" cy="160020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3447288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E46"/>
                </a:solidFill>
                <a:latin typeface="Aptos Display"/>
              </a:defRPr>
            </a:pPr>
            <a:r>
              <a:t>?  Basit hesap makinesi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Yazılmış matematik kuralını uygular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Cevap: Geleneksel programlama örneği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669280"/>
            <a:ext cx="7589520" cy="393192"/>
          </a:xfrm>
          <a:prstGeom prst="round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Bonus: Bir örnekte YZ kullanılırken hata yapılırsa ne olabilir?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15. Hızlı değerlendirme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Önce kendin cevapla; sonra sınıfça gerekçeleri tartış.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23444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35607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34A"/>
                </a:solidFill>
                <a:latin typeface="Aptos Display"/>
              </a:defRPr>
            </a:pPr>
            <a:r>
              <a:t>1  1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Yapay zekâ için en uygun tanım nedir?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İnsan zekâsıyla ilişkilendirilen görevleri bilgisayar sistemleriyle gerçekleştirmeye yönelik yöntem ve teknolojiler bütünü.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73152" cy="123444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435607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34A"/>
                </a:solidFill>
                <a:latin typeface="Aptos Display"/>
              </a:defRPr>
            </a:pPr>
            <a:r>
              <a:t>2  2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Makine öğrenmesi nedir?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Sistemin verilerden örüntüler öğrenerek yeni veriler üzerinde tahmin/çıkarım yapabildiği yaklaşım.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39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34639"/>
            <a:ext cx="73152" cy="123444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94436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34A"/>
                </a:solidFill>
                <a:latin typeface="Aptos Display"/>
              </a:defRPr>
            </a:pPr>
            <a:r>
              <a:t>3  3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1956 neden önemlidir?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Dartmouth çalıştayı ve “Artificial Intelligence” teriminin alan adı olarak kullanılması.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834639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834639"/>
            <a:ext cx="73152" cy="123444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94436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34A"/>
                </a:solidFill>
                <a:latin typeface="Aptos Display"/>
              </a:defRPr>
            </a:pPr>
            <a:r>
              <a:t>4  4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Alan Turing'in önemi nedir?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Hesaplama kuramı ve makine zekâsı üzerine öncü çalışmaları.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434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43400"/>
            <a:ext cx="73152" cy="123444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45312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34A"/>
                </a:solidFill>
                <a:latin typeface="Aptos Display"/>
              </a:defRPr>
            </a:pPr>
            <a:r>
              <a:t>5  5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Her otomatik sistem YZ midir?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Hayır. Sabit kurallarla çalışan otomasyon YZ içermeyebilir.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3434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343400"/>
            <a:ext cx="73152" cy="123444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45312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34A"/>
                </a:solidFill>
                <a:latin typeface="Aptos Display"/>
              </a:defRPr>
            </a:pPr>
            <a:r>
              <a:t>6  6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YZ çıktısı neden kontrol edilmelidir?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Model hatalı, eksik veya yanlı sonuç üretebilir.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16. Büyük resim: Yapay zekâ kavram haritası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51960" y="2423160"/>
            <a:ext cx="3703320" cy="1143000"/>
          </a:xfrm>
          <a:prstGeom prst="round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YAPAY ZEKÂ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14300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35607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64B4"/>
                </a:solidFill>
                <a:latin typeface="Aptos Display"/>
              </a:defRPr>
            </a:pPr>
            <a:r>
              <a:t>◆  TANIM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Algılama • öğrenme • problem çözme • dil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9768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73152" cy="114300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407408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9DBE"/>
                </a:solidFill>
                <a:latin typeface="Aptos Display"/>
              </a:defRPr>
            </a:pPr>
            <a:r>
              <a:t>◆  YÖNTEMLER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Makine öğrenmesi • derin öğrenme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32588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1325880"/>
            <a:ext cx="73152" cy="114300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1435607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855E"/>
                </a:solidFill>
                <a:latin typeface="Aptos Display"/>
              </a:defRPr>
            </a:pPr>
            <a:r>
              <a:t>◆  UYGULAMALAR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Telefon • sağlık • ulaşım • eğitim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29768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4297680"/>
            <a:ext cx="73152" cy="1143000"/>
          </a:xfrm>
          <a:prstGeom prst="rect">
            <a:avLst/>
          </a:prstGeom>
          <a:solidFill>
            <a:srgbClr val="C0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4407408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E46"/>
                </a:solidFill>
                <a:latin typeface="Aptos Display"/>
              </a:defRPr>
            </a:pPr>
            <a:r>
              <a:t>◆  SORUMLULUK</a:t>
            </a:r>
          </a:p>
          <a:p>
            <a:pPr>
              <a:spcAft>
                <a:spcPts val="400"/>
              </a:spcAft>
              <a:defRPr sz="900">
                <a:solidFill>
                  <a:srgbClr val="242B37"/>
                </a:solidFill>
                <a:latin typeface="Aptos"/>
              </a:defRPr>
            </a:pPr>
            <a:r>
              <a:t>Doğruluk • gizlilik • yanlılık • insan denetimi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0" y="1874519"/>
            <a:ext cx="777240" cy="868681"/>
          </a:xfrm>
          <a:prstGeom prst="line">
            <a:avLst/>
          </a:prstGeom>
          <a:ln w="2540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474720" y="3200400"/>
            <a:ext cx="777240" cy="1645920"/>
          </a:xfrm>
          <a:prstGeom prst="line">
            <a:avLst/>
          </a:prstGeom>
          <a:ln w="2540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955279" y="1874519"/>
            <a:ext cx="731521" cy="868681"/>
          </a:xfrm>
          <a:prstGeom prst="line">
            <a:avLst/>
          </a:prstGeom>
          <a:ln w="2540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55279" y="3200400"/>
            <a:ext cx="731521" cy="1645920"/>
          </a:xfrm>
          <a:prstGeom prst="line">
            <a:avLst/>
          </a:prstGeom>
          <a:ln w="2540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14600" y="5852160"/>
            <a:ext cx="7223760" cy="393192"/>
          </a:xfrm>
          <a:prstGeom prst="round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YZ = Veri + yöntem/model + hesaplama + insan amacı ve denetimi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A"/>
                </a:solidFill>
                <a:latin typeface="Aptos Display"/>
              </a:defRPr>
            </a:pPr>
            <a:r>
              <a:t>17. Haftanın tek görseli: Yapay zekâya giriş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A"/>
                </a:solidFill>
                <a:latin typeface="Aptos"/>
              </a:defRPr>
            </a:pPr>
            <a:r>
              <a:t>Ders boyunca kullandığımız bütüncül infografik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1155680" cy="45720"/>
          </a:xfrm>
          <a:prstGeom prst="rect">
            <a:avLst/>
          </a:prstGeom>
          <a:solidFill>
            <a:srgbClr val="24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_highly_detailed_infographic_poster_educ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11548872" cy="7699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49DBE"/>
                </a:solidFill>
              </a:defRPr>
            </a:pPr>
            <a:r>
              <a:t>DERSİN ANA FİKRİ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Yapay zekâ, bilgisayar sistemlerinin</a:t>
            </a:r>
            <a:br/>
            <a:r>
              <a:t>insan zekâsıyla ilişkilendirilen bazı görevleri gerçekleştirmesini sağlayan teknoloji ve yöntemler bütünüdür.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DCEBFA"/>
                </a:solidFill>
              </a:defRPr>
            </a:pPr>
            <a:r>
              <a:t>Tanımı bil → nasıl çalıştığını anla → tarihini öğren → örnekleri sorgula → bilinçli kullan.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5669280"/>
            <a:ext cx="4846320" cy="393192"/>
          </a:xfrm>
          <a:prstGeom prst="roundRect">
            <a:avLst/>
          </a:prstGeom>
          <a:solidFill>
            <a:srgbClr val="684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Bir sonraki adım: YZ'nin farklı alanları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C7A"/>
                </a:solidFill>
                <a:latin typeface="Aptos"/>
              </a:defRPr>
            </a:pPr>
            <a:r>
              <a:t>YZU.1.1 • 8. Sınıf • Yapay Zekâya Giriş     | 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